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notesSlides/notesSlide9.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4" r:id="rId9"/>
    <p:sldId id="263"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6A6AE"/>
    <a:srgbClr val="0B1E46"/>
    <a:srgbClr val="E3153D"/>
    <a:srgbClr val="153D8D"/>
    <a:srgbClr val="7B7B80"/>
    <a:srgbClr val="BFC0C5"/>
    <a:srgbClr val="0B204C"/>
    <a:srgbClr val="000000"/>
    <a:srgbClr val="143980"/>
    <a:srgbClr val="6670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70"/>
    <p:restoredTop sz="94610"/>
  </p:normalViewPr>
  <p:slideViewPr>
    <p:cSldViewPr snapToGrid="0" snapToObjects="1">
      <p:cViewPr varScale="1">
        <p:scale>
          <a:sx n="108" d="100"/>
          <a:sy n="108" d="100"/>
        </p:scale>
        <p:origin x="5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Total Headcount</c:v>
                </c:pt>
              </c:strCache>
            </c:strRef>
          </c:tx>
          <c:spPr>
            <a:ln w="34925" cap="flat">
              <a:solidFill>
                <a:srgbClr val="0B1E46"/>
              </a:solidFill>
              <a:prstDash val="solid"/>
              <a:round/>
            </a:ln>
            <a:effectLst/>
          </c:spPr>
          <c:marker>
            <c:symbol val="circle"/>
            <c:size val="5"/>
            <c:spPr>
              <a:solidFill>
                <a:srgbClr val="0B1E46"/>
              </a:solidFill>
              <a:ln w="9525" cap="flat">
                <a:noFill/>
                <a:prstDash val="solid"/>
                <a:round/>
              </a:ln>
              <a:effectLst/>
            </c:spPr>
          </c:marker>
          <c:dLbls>
            <c:numFmt formatCode="#,##0" sourceLinked="0"/>
            <c:spPr>
              <a:solidFill>
                <a:srgbClr val="132A46"/>
              </a:solidFill>
            </c:spPr>
            <c:txPr>
              <a:bodyPr/>
              <a:lstStyle/>
              <a:p>
                <a:pPr>
                  <a:defRPr sz="1000" b="1" i="0" u="none" strike="noStrike">
                    <a:solidFill>
                      <a:srgbClr val="FFFFF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2014</c:v>
                </c:pt>
                <c:pt idx="1">
                  <c:v>2015</c:v>
                </c:pt>
                <c:pt idx="2">
                  <c:v>2016</c:v>
                </c:pt>
                <c:pt idx="3">
                  <c:v>2017</c:v>
                </c:pt>
                <c:pt idx="4">
                  <c:v>2018</c:v>
                </c:pt>
              </c:strCache>
            </c:strRef>
          </c:cat>
          <c:val>
            <c:numRef>
              <c:f>Sheet1!$B$2:$B$6</c:f>
              <c:numCache>
                <c:formatCode>General</c:formatCode>
                <c:ptCount val="5"/>
                <c:pt idx="0">
                  <c:v>382385</c:v>
                </c:pt>
                <c:pt idx="1">
                  <c:v>374787</c:v>
                </c:pt>
                <c:pt idx="2">
                  <c:v>375407</c:v>
                </c:pt>
                <c:pt idx="3">
                  <c:v>379797</c:v>
                </c:pt>
                <c:pt idx="4">
                  <c:v>379460</c:v>
                </c:pt>
              </c:numCache>
            </c:numRef>
          </c:val>
          <c:smooth val="0"/>
          <c:extLst>
            <c:ext xmlns:c16="http://schemas.microsoft.com/office/drawing/2014/chart" uri="{C3380CC4-5D6E-409C-BE32-E72D297353CC}">
              <c16:uniqueId val="{00000000-F5D8-B244-82F1-02627EF652EF}"/>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0D5DD"/>
            </a:solidFill>
            <a:prstDash val="solid"/>
            <a:round/>
          </a:ln>
        </c:spPr>
        <c:txPr>
          <a:bodyPr/>
          <a:lstStyle/>
          <a:p>
            <a:pPr>
              <a:defRPr sz="1100" b="0" i="0" u="none" strike="noStrike">
                <a:solidFill>
                  <a:srgbClr val="667085"/>
                </a:solidFill>
                <a:latin typeface="Calibri"/>
              </a:defRPr>
            </a:pPr>
            <a:endParaRPr lang="en-US"/>
          </a:p>
        </c:txPr>
        <c:crossAx val="2094734552"/>
        <c:crosses val="autoZero"/>
        <c:auto val="1"/>
        <c:lblAlgn val="ctr"/>
        <c:lblOffset val="100"/>
        <c:noMultiLvlLbl val="1"/>
      </c:catAx>
      <c:valAx>
        <c:axId val="2094734552"/>
        <c:scaling>
          <c:orientation val="minMax"/>
          <c:max val="390000"/>
          <c:min val="365000"/>
        </c:scaling>
        <c:delete val="0"/>
        <c:axPos val="l"/>
        <c:majorGridlines>
          <c:spPr>
            <a:ln w="9525" cap="flat">
              <a:solidFill>
                <a:srgbClr val="E7EAF0"/>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667085"/>
                </a:solidFill>
                <a:latin typeface="Calibri"/>
              </a:defRPr>
            </a:pPr>
            <a:endParaRPr lang="en-US"/>
          </a:p>
        </c:txPr>
        <c:crossAx val="2094734554"/>
        <c:crosses val="autoZero"/>
        <c:crossBetween val="between"/>
        <c:majorUnit val="50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 Female</c:v>
                </c:pt>
              </c:strCache>
            </c:strRef>
          </c:tx>
          <c:spPr>
            <a:ln w="34925" cap="flat">
              <a:solidFill>
                <a:schemeClr val="accent6"/>
              </a:solidFill>
              <a:prstDash val="solid"/>
              <a:round/>
            </a:ln>
            <a:effectLst/>
          </c:spPr>
          <c:marker>
            <c:symbol val="circle"/>
            <c:size val="7"/>
            <c:spPr>
              <a:solidFill>
                <a:schemeClr val="accent6"/>
              </a:solidFill>
              <a:ln w="9525" cap="flat">
                <a:noFill/>
                <a:prstDash val="solid"/>
                <a:round/>
              </a:ln>
              <a:effectLst/>
            </c:spPr>
          </c:marker>
          <c:dLbls>
            <c:numFmt formatCode="0.0&quot;%&quot;" sourceLinked="0"/>
            <c:spPr>
              <a:noFill/>
              <a:ln>
                <a:noFill/>
              </a:ln>
              <a:effectLst/>
            </c:spPr>
            <c:txPr>
              <a:bodyPr/>
              <a:lstStyle/>
              <a:p>
                <a:pPr>
                  <a:defRPr sz="950" b="1" i="0" u="none" strike="noStrike">
                    <a:solidFill>
                      <a:srgbClr val="1C243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2014</c:v>
                </c:pt>
                <c:pt idx="1">
                  <c:v>2015</c:v>
                </c:pt>
                <c:pt idx="2">
                  <c:v>2016</c:v>
                </c:pt>
                <c:pt idx="3">
                  <c:v>2017</c:v>
                </c:pt>
                <c:pt idx="4">
                  <c:v>2018</c:v>
                </c:pt>
              </c:strCache>
            </c:strRef>
          </c:cat>
          <c:val>
            <c:numRef>
              <c:f>Sheet1!$B$2:$B$6</c:f>
              <c:numCache>
                <c:formatCode>General</c:formatCode>
                <c:ptCount val="5"/>
                <c:pt idx="0">
                  <c:v>64.010000000000005</c:v>
                </c:pt>
                <c:pt idx="1">
                  <c:v>64.56</c:v>
                </c:pt>
                <c:pt idx="2">
                  <c:v>64.66</c:v>
                </c:pt>
                <c:pt idx="3">
                  <c:v>64.81</c:v>
                </c:pt>
                <c:pt idx="4">
                  <c:v>64.84</c:v>
                </c:pt>
              </c:numCache>
            </c:numRef>
          </c:val>
          <c:smooth val="0"/>
          <c:extLst>
            <c:ext xmlns:c16="http://schemas.microsoft.com/office/drawing/2014/chart" uri="{C3380CC4-5D6E-409C-BE32-E72D297353CC}">
              <c16:uniqueId val="{00000000-2667-2141-978A-415A91334D02}"/>
            </c:ext>
          </c:extLst>
        </c:ser>
        <c:ser>
          <c:idx val="1"/>
          <c:order val="1"/>
          <c:tx>
            <c:strRef>
              <c:f>Sheet1!$C$1</c:f>
              <c:strCache>
                <c:ptCount val="1"/>
                <c:pt idx="0">
                  <c:v>% Male</c:v>
                </c:pt>
              </c:strCache>
            </c:strRef>
          </c:tx>
          <c:spPr>
            <a:ln w="34925" cap="flat">
              <a:solidFill>
                <a:srgbClr val="C00000"/>
              </a:solidFill>
              <a:prstDash val="solid"/>
              <a:round/>
            </a:ln>
            <a:effectLst/>
          </c:spPr>
          <c:marker>
            <c:symbol val="circle"/>
            <c:size val="7"/>
            <c:spPr>
              <a:solidFill>
                <a:srgbClr val="C00000"/>
              </a:solidFill>
              <a:ln w="9525" cap="flat">
                <a:noFill/>
                <a:prstDash val="solid"/>
                <a:round/>
              </a:ln>
              <a:effectLst/>
            </c:spPr>
          </c:marker>
          <c:dLbls>
            <c:numFmt formatCode="0.0&quot;%&quot;" sourceLinked="0"/>
            <c:spPr>
              <a:noFill/>
              <a:ln>
                <a:noFill/>
              </a:ln>
              <a:effectLst/>
            </c:spPr>
            <c:txPr>
              <a:bodyPr/>
              <a:lstStyle/>
              <a:p>
                <a:pPr>
                  <a:defRPr sz="950" b="1" i="0" u="none" strike="noStrike">
                    <a:solidFill>
                      <a:srgbClr val="1C243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2014</c:v>
                </c:pt>
                <c:pt idx="1">
                  <c:v>2015</c:v>
                </c:pt>
                <c:pt idx="2">
                  <c:v>2016</c:v>
                </c:pt>
                <c:pt idx="3">
                  <c:v>2017</c:v>
                </c:pt>
                <c:pt idx="4">
                  <c:v>2018</c:v>
                </c:pt>
              </c:strCache>
            </c:strRef>
          </c:cat>
          <c:val>
            <c:numRef>
              <c:f>Sheet1!$C$2:$C$6</c:f>
              <c:numCache>
                <c:formatCode>General</c:formatCode>
                <c:ptCount val="5"/>
                <c:pt idx="0">
                  <c:v>35.99</c:v>
                </c:pt>
                <c:pt idx="1">
                  <c:v>35.44</c:v>
                </c:pt>
                <c:pt idx="2">
                  <c:v>35.340000000000003</c:v>
                </c:pt>
                <c:pt idx="3">
                  <c:v>35.19</c:v>
                </c:pt>
                <c:pt idx="4">
                  <c:v>35.159999999999997</c:v>
                </c:pt>
              </c:numCache>
            </c:numRef>
          </c:val>
          <c:smooth val="0"/>
          <c:extLst>
            <c:ext xmlns:c16="http://schemas.microsoft.com/office/drawing/2014/chart" uri="{C3380CC4-5D6E-409C-BE32-E72D297353CC}">
              <c16:uniqueId val="{00000001-2667-2141-978A-415A91334D02}"/>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0D5DD"/>
            </a:solidFill>
            <a:prstDash val="solid"/>
            <a:round/>
          </a:ln>
        </c:spPr>
        <c:txPr>
          <a:bodyPr/>
          <a:lstStyle/>
          <a:p>
            <a:pPr>
              <a:defRPr sz="1100" b="0" i="0" u="none" strike="noStrike">
                <a:solidFill>
                  <a:srgbClr val="667085"/>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7EAF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667085"/>
                </a:solidFill>
                <a:latin typeface="Calibri"/>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667085"/>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Total sector</c:v>
                </c:pt>
              </c:strCache>
            </c:strRef>
          </c:tx>
          <c:spPr>
            <a:ln w="33020" cap="flat">
              <a:solidFill>
                <a:schemeClr val="bg1">
                  <a:lumMod val="50000"/>
                </a:schemeClr>
              </a:solidFill>
              <a:prstDash val="solid"/>
              <a:round/>
            </a:ln>
            <a:effectLst/>
          </c:spPr>
          <c:marker>
            <c:symbol val="circle"/>
            <c:size val="5"/>
            <c:spPr>
              <a:solidFill>
                <a:schemeClr val="bg1">
                  <a:lumMod val="50000"/>
                </a:schemeClr>
              </a:solidFill>
              <a:ln w="9525" cap="flat">
                <a:noFill/>
                <a:prstDash val="solid"/>
                <a:round/>
              </a:ln>
              <a:effectLst/>
            </c:spPr>
          </c:marker>
          <c:dLbls>
            <c:numFmt formatCode="0.0&quot;%&quot;" sourceLinked="0"/>
            <c:spPr>
              <a:noFill/>
              <a:ln>
                <a:noFill/>
              </a:ln>
              <a:effectLst/>
            </c:spPr>
            <c:txPr>
              <a:bodyPr/>
              <a:lstStyle/>
              <a:p>
                <a:pPr>
                  <a:defRPr sz="950" b="1" i="0" u="none" strike="noStrike">
                    <a:solidFill>
                      <a:srgbClr val="1C243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2014</c:v>
                </c:pt>
                <c:pt idx="1">
                  <c:v>2015</c:v>
                </c:pt>
                <c:pt idx="2">
                  <c:v>2016</c:v>
                </c:pt>
                <c:pt idx="3">
                  <c:v>2017</c:v>
                </c:pt>
                <c:pt idx="4">
                  <c:v>2018</c:v>
                </c:pt>
              </c:strCache>
            </c:strRef>
          </c:cat>
          <c:val>
            <c:numRef>
              <c:f>Sheet1!$B$2:$B$6</c:f>
              <c:numCache>
                <c:formatCode>General</c:formatCode>
                <c:ptCount val="5"/>
                <c:pt idx="0">
                  <c:v>26.67</c:v>
                </c:pt>
                <c:pt idx="1">
                  <c:v>27.81</c:v>
                </c:pt>
                <c:pt idx="2">
                  <c:v>27.42</c:v>
                </c:pt>
                <c:pt idx="3">
                  <c:v>28.81</c:v>
                </c:pt>
                <c:pt idx="4">
                  <c:v>29.58</c:v>
                </c:pt>
              </c:numCache>
            </c:numRef>
          </c:val>
          <c:smooth val="0"/>
          <c:extLst>
            <c:ext xmlns:c16="http://schemas.microsoft.com/office/drawing/2014/chart" uri="{C3380CC4-5D6E-409C-BE32-E72D297353CC}">
              <c16:uniqueId val="{00000000-419A-F646-AEE7-59A46FB56DC7}"/>
            </c:ext>
          </c:extLst>
        </c:ser>
        <c:ser>
          <c:idx val="1"/>
          <c:order val="1"/>
          <c:tx>
            <c:strRef>
              <c:f>Sheet1!$C$1</c:f>
              <c:strCache>
                <c:ptCount val="1"/>
                <c:pt idx="0">
                  <c:v>Female</c:v>
                </c:pt>
              </c:strCache>
            </c:strRef>
          </c:tx>
          <c:spPr>
            <a:ln w="33020" cap="flat">
              <a:solidFill>
                <a:srgbClr val="0B1E46"/>
              </a:solidFill>
              <a:prstDash val="solid"/>
              <a:round/>
            </a:ln>
            <a:effectLst/>
          </c:spPr>
          <c:marker>
            <c:symbol val="circle"/>
            <c:size val="5"/>
            <c:spPr>
              <a:solidFill>
                <a:srgbClr val="0B1E46"/>
              </a:solidFill>
              <a:ln w="9525" cap="flat">
                <a:noFill/>
                <a:prstDash val="solid"/>
                <a:round/>
              </a:ln>
              <a:effectLst/>
            </c:spPr>
          </c:marker>
          <c:dLbls>
            <c:numFmt formatCode="0.0&quot;%&quot;" sourceLinked="0"/>
            <c:spPr>
              <a:noFill/>
              <a:ln>
                <a:noFill/>
              </a:ln>
              <a:effectLst/>
            </c:spPr>
            <c:txPr>
              <a:bodyPr/>
              <a:lstStyle/>
              <a:p>
                <a:pPr>
                  <a:defRPr sz="950" b="1" i="0" u="none" strike="noStrike">
                    <a:solidFill>
                      <a:srgbClr val="1C243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2014</c:v>
                </c:pt>
                <c:pt idx="1">
                  <c:v>2015</c:v>
                </c:pt>
                <c:pt idx="2">
                  <c:v>2016</c:v>
                </c:pt>
                <c:pt idx="3">
                  <c:v>2017</c:v>
                </c:pt>
                <c:pt idx="4">
                  <c:v>2018</c:v>
                </c:pt>
              </c:strCache>
            </c:strRef>
          </c:cat>
          <c:val>
            <c:numRef>
              <c:f>Sheet1!$C$2:$C$6</c:f>
              <c:numCache>
                <c:formatCode>General</c:formatCode>
                <c:ptCount val="5"/>
                <c:pt idx="0">
                  <c:v>35.94</c:v>
                </c:pt>
                <c:pt idx="1">
                  <c:v>37.17</c:v>
                </c:pt>
                <c:pt idx="2">
                  <c:v>36.36</c:v>
                </c:pt>
                <c:pt idx="3">
                  <c:v>36.86</c:v>
                </c:pt>
                <c:pt idx="4">
                  <c:v>36.67</c:v>
                </c:pt>
              </c:numCache>
            </c:numRef>
          </c:val>
          <c:smooth val="0"/>
          <c:extLst>
            <c:ext xmlns:c16="http://schemas.microsoft.com/office/drawing/2014/chart" uri="{C3380CC4-5D6E-409C-BE32-E72D297353CC}">
              <c16:uniqueId val="{00000001-419A-F646-AEE7-59A46FB56DC7}"/>
            </c:ext>
          </c:extLst>
        </c:ser>
        <c:ser>
          <c:idx val="2"/>
          <c:order val="2"/>
          <c:tx>
            <c:strRef>
              <c:f>Sheet1!$D$1</c:f>
              <c:strCache>
                <c:ptCount val="1"/>
                <c:pt idx="0">
                  <c:v>Male</c:v>
                </c:pt>
              </c:strCache>
            </c:strRef>
          </c:tx>
          <c:spPr>
            <a:ln w="33020" cap="flat">
              <a:solidFill>
                <a:schemeClr val="accent6">
                  <a:lumMod val="75000"/>
                </a:schemeClr>
              </a:solidFill>
              <a:prstDash val="solid"/>
              <a:round/>
            </a:ln>
            <a:effectLst/>
          </c:spPr>
          <c:marker>
            <c:symbol val="circle"/>
            <c:size val="5"/>
            <c:spPr>
              <a:solidFill>
                <a:schemeClr val="accent6">
                  <a:lumMod val="75000"/>
                </a:schemeClr>
              </a:solidFill>
              <a:ln w="9525" cap="flat">
                <a:noFill/>
                <a:prstDash val="solid"/>
                <a:round/>
              </a:ln>
              <a:effectLst/>
            </c:spPr>
          </c:marker>
          <c:dLbls>
            <c:numFmt formatCode="0.0&quot;%&quot;" sourceLinked="0"/>
            <c:spPr>
              <a:noFill/>
              <a:ln>
                <a:noFill/>
              </a:ln>
              <a:effectLst/>
            </c:spPr>
            <c:txPr>
              <a:bodyPr/>
              <a:lstStyle/>
              <a:p>
                <a:pPr>
                  <a:defRPr sz="950" b="1" i="0" u="none" strike="noStrike">
                    <a:solidFill>
                      <a:srgbClr val="1C243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2014</c:v>
                </c:pt>
                <c:pt idx="1">
                  <c:v>2015</c:v>
                </c:pt>
                <c:pt idx="2">
                  <c:v>2016</c:v>
                </c:pt>
                <c:pt idx="3">
                  <c:v>2017</c:v>
                </c:pt>
                <c:pt idx="4">
                  <c:v>2018</c:v>
                </c:pt>
              </c:strCache>
            </c:strRef>
          </c:cat>
          <c:val>
            <c:numRef>
              <c:f>Sheet1!$D$2:$D$6</c:f>
              <c:numCache>
                <c:formatCode>General</c:formatCode>
                <c:ptCount val="5"/>
                <c:pt idx="0">
                  <c:v>10.17</c:v>
                </c:pt>
                <c:pt idx="1">
                  <c:v>10.77</c:v>
                </c:pt>
                <c:pt idx="2">
                  <c:v>11.06</c:v>
                </c:pt>
                <c:pt idx="3">
                  <c:v>13.99</c:v>
                </c:pt>
                <c:pt idx="4">
                  <c:v>16.52</c:v>
                </c:pt>
              </c:numCache>
            </c:numRef>
          </c:val>
          <c:smooth val="0"/>
          <c:extLst>
            <c:ext xmlns:c16="http://schemas.microsoft.com/office/drawing/2014/chart" uri="{C3380CC4-5D6E-409C-BE32-E72D297353CC}">
              <c16:uniqueId val="{00000002-419A-F646-AEE7-59A46FB56DC7}"/>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0D5DD"/>
            </a:solidFill>
            <a:prstDash val="solid"/>
            <a:round/>
          </a:ln>
        </c:spPr>
        <c:txPr>
          <a:bodyPr/>
          <a:lstStyle/>
          <a:p>
            <a:pPr>
              <a:defRPr sz="1100" b="0" i="0" u="none" strike="noStrike">
                <a:solidFill>
                  <a:srgbClr val="667085"/>
                </a:solidFill>
                <a:latin typeface="Calibri"/>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9525" cap="flat">
              <a:solidFill>
                <a:srgbClr val="E7EAF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667085"/>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solidFill>
                <a:srgbClr val="667085"/>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Percentage-point change, 2014–2018</c:v>
                </c:pt>
              </c:strCache>
            </c:strRef>
          </c:tx>
          <c:spPr>
            <a:solidFill>
              <a:srgbClr val="0B1E46"/>
            </a:solidFill>
            <a:effectLst/>
          </c:spPr>
          <c:invertIfNegative val="0"/>
          <c:dLbls>
            <c:numFmt formatCode="0.0&quot;pp&quot;" sourceLinked="0"/>
            <c:spPr>
              <a:noFill/>
              <a:ln>
                <a:noFill/>
              </a:ln>
              <a:effectLst/>
            </c:spPr>
            <c:txPr>
              <a:bodyPr/>
              <a:lstStyle/>
              <a:p>
                <a:pPr>
                  <a:defRPr sz="1000" b="1" i="0" u="none" strike="noStrike">
                    <a:solidFill>
                      <a:srgbClr val="1C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Family &amp; Community Services</c:v>
                </c:pt>
                <c:pt idx="1">
                  <c:v>Industry</c:v>
                </c:pt>
                <c:pt idx="2">
                  <c:v>Premier &amp; Cabinet</c:v>
                </c:pt>
                <c:pt idx="3">
                  <c:v>Planning &amp; Environment</c:v>
                </c:pt>
                <c:pt idx="4">
                  <c:v>Justice</c:v>
                </c:pt>
                <c:pt idx="5">
                  <c:v>Health</c:v>
                </c:pt>
                <c:pt idx="6">
                  <c:v>Treasury</c:v>
                </c:pt>
                <c:pt idx="7">
                  <c:v>Transport</c:v>
                </c:pt>
                <c:pt idx="8">
                  <c:v>Education</c:v>
                </c:pt>
                <c:pt idx="9">
                  <c:v>Finance, Services &amp; Innovation</c:v>
                </c:pt>
              </c:strCache>
            </c:strRef>
          </c:cat>
          <c:val>
            <c:numRef>
              <c:f>Sheet1!$B$2:$B$11</c:f>
              <c:numCache>
                <c:formatCode>0.00</c:formatCode>
                <c:ptCount val="10"/>
                <c:pt idx="0">
                  <c:v>-19.07</c:v>
                </c:pt>
                <c:pt idx="1">
                  <c:v>-5.53</c:v>
                </c:pt>
                <c:pt idx="2">
                  <c:v>-0.95</c:v>
                </c:pt>
                <c:pt idx="3">
                  <c:v>0.62</c:v>
                </c:pt>
                <c:pt idx="4">
                  <c:v>1.72</c:v>
                </c:pt>
                <c:pt idx="5">
                  <c:v>2.35</c:v>
                </c:pt>
                <c:pt idx="6">
                  <c:v>4.01</c:v>
                </c:pt>
                <c:pt idx="7">
                  <c:v>4.3099999999999996</c:v>
                </c:pt>
                <c:pt idx="8">
                  <c:v>4.46</c:v>
                </c:pt>
                <c:pt idx="9">
                  <c:v>14.47</c:v>
                </c:pt>
              </c:numCache>
            </c:numRef>
          </c:val>
          <c:extLst>
            <c:ext xmlns:c16="http://schemas.microsoft.com/office/drawing/2014/chart" uri="{C3380CC4-5D6E-409C-BE32-E72D297353CC}">
              <c16:uniqueId val="{00000000-6F65-F048-9E42-EBF2FD15DDA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D0D5DD"/>
            </a:solidFill>
            <a:prstDash val="solid"/>
            <a:round/>
          </a:ln>
        </c:spPr>
        <c:txPr>
          <a:bodyPr/>
          <a:lstStyle/>
          <a:p>
            <a:pPr>
              <a:defRPr sz="1050" b="0" i="0" u="none" strike="noStrike">
                <a:solidFill>
                  <a:srgbClr val="1C2430"/>
                </a:solidFill>
                <a:latin typeface="Calibri"/>
              </a:defRPr>
            </a:pPr>
            <a:endParaRPr lang="en-US"/>
          </a:p>
        </c:txPr>
        <c:crossAx val="2094734552"/>
        <c:crosses val="autoZero"/>
        <c:auto val="1"/>
        <c:lblAlgn val="ctr"/>
        <c:lblOffset val="100"/>
        <c:noMultiLvlLbl val="1"/>
      </c:catAx>
      <c:valAx>
        <c:axId val="2094734552"/>
        <c:scaling>
          <c:orientation val="minMax"/>
          <c:max val="18"/>
          <c:min val="-22"/>
        </c:scaling>
        <c:delete val="0"/>
        <c:axPos val="b"/>
        <c:majorGridlines>
          <c:spPr>
            <a:ln w="9525" cap="flat">
              <a:solidFill>
                <a:schemeClr val="bg1">
                  <a:lumMod val="95000"/>
                </a:schemeClr>
              </a:solidFill>
              <a:prstDash val="solid"/>
              <a:round/>
            </a:ln>
          </c:spPr>
        </c:majorGridlines>
        <c:numFmt formatCode="0&quot;pp&quot;" sourceLinked="0"/>
        <c:majorTickMark val="out"/>
        <c:minorTickMark val="none"/>
        <c:tickLblPos val="low"/>
        <c:spPr>
          <a:ln w="12700" cap="flat">
            <a:solidFill>
              <a:srgbClr val="888888"/>
            </a:solidFill>
            <a:prstDash val="solid"/>
            <a:round/>
          </a:ln>
        </c:spPr>
        <c:txPr>
          <a:bodyPr/>
          <a:lstStyle/>
          <a:p>
            <a:pPr>
              <a:defRPr sz="850" b="0" i="0" u="none" strike="noStrike">
                <a:solidFill>
                  <a:srgbClr val="667085"/>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Male % part-time (2018)</c:v>
                </c:pt>
              </c:strCache>
            </c:strRef>
          </c:tx>
          <c:spPr>
            <a:solidFill>
              <a:srgbClr val="0B1E46"/>
            </a:solidFill>
            <a:effectLst/>
          </c:spPr>
          <c:invertIfNegative val="0"/>
          <c:cat>
            <c:strRef>
              <c:f>Sheet1!$A$2:$A$11</c:f>
              <c:strCache>
                <c:ptCount val="10"/>
                <c:pt idx="0">
                  <c:v>Transport</c:v>
                </c:pt>
                <c:pt idx="1">
                  <c:v>Finance, Services &amp; Innovation</c:v>
                </c:pt>
                <c:pt idx="2">
                  <c:v>Industry</c:v>
                </c:pt>
                <c:pt idx="3">
                  <c:v>Premier &amp; Cabinet</c:v>
                </c:pt>
                <c:pt idx="4">
                  <c:v>Treasury</c:v>
                </c:pt>
                <c:pt idx="5">
                  <c:v>Education</c:v>
                </c:pt>
                <c:pt idx="6">
                  <c:v>Family &amp; Community Services</c:v>
                </c:pt>
                <c:pt idx="7">
                  <c:v>Justice</c:v>
                </c:pt>
                <c:pt idx="8">
                  <c:v>Health</c:v>
                </c:pt>
                <c:pt idx="9">
                  <c:v>Planning &amp; Environment</c:v>
                </c:pt>
              </c:strCache>
            </c:strRef>
          </c:cat>
          <c:val>
            <c:numRef>
              <c:f>Sheet1!$B$2:$B$11</c:f>
              <c:numCache>
                <c:formatCode>General</c:formatCode>
                <c:ptCount val="10"/>
                <c:pt idx="0">
                  <c:v>12.95</c:v>
                </c:pt>
                <c:pt idx="1">
                  <c:v>19.97</c:v>
                </c:pt>
                <c:pt idx="2">
                  <c:v>1.98</c:v>
                </c:pt>
                <c:pt idx="3">
                  <c:v>6.27</c:v>
                </c:pt>
                <c:pt idx="4">
                  <c:v>2.99</c:v>
                </c:pt>
                <c:pt idx="5">
                  <c:v>35.340000000000003</c:v>
                </c:pt>
                <c:pt idx="6">
                  <c:v>4.6900000000000004</c:v>
                </c:pt>
                <c:pt idx="7">
                  <c:v>5.07</c:v>
                </c:pt>
                <c:pt idx="8">
                  <c:v>19.920000000000002</c:v>
                </c:pt>
                <c:pt idx="9">
                  <c:v>5.13</c:v>
                </c:pt>
              </c:numCache>
            </c:numRef>
          </c:val>
          <c:extLst>
            <c:ext xmlns:c16="http://schemas.microsoft.com/office/drawing/2014/chart" uri="{C3380CC4-5D6E-409C-BE32-E72D297353CC}">
              <c16:uniqueId val="{00000000-B481-1D4D-B382-7B0C0CEA236F}"/>
            </c:ext>
          </c:extLst>
        </c:ser>
        <c:ser>
          <c:idx val="1"/>
          <c:order val="1"/>
          <c:tx>
            <c:strRef>
              <c:f>Sheet1!$C$1</c:f>
              <c:strCache>
                <c:ptCount val="1"/>
                <c:pt idx="0">
                  <c:v>Female % part-time (2018)</c:v>
                </c:pt>
              </c:strCache>
            </c:strRef>
          </c:tx>
          <c:spPr>
            <a:solidFill>
              <a:schemeClr val="accent6">
                <a:lumMod val="75000"/>
              </a:schemeClr>
            </a:solidFill>
            <a:effectLst/>
          </c:spPr>
          <c:invertIfNegative val="0"/>
          <c:cat>
            <c:strRef>
              <c:f>Sheet1!$A$2:$A$11</c:f>
              <c:strCache>
                <c:ptCount val="10"/>
                <c:pt idx="0">
                  <c:v>Transport</c:v>
                </c:pt>
                <c:pt idx="1">
                  <c:v>Finance, Services &amp; Innovation</c:v>
                </c:pt>
                <c:pt idx="2">
                  <c:v>Industry</c:v>
                </c:pt>
                <c:pt idx="3">
                  <c:v>Premier &amp; Cabinet</c:v>
                </c:pt>
                <c:pt idx="4">
                  <c:v>Treasury</c:v>
                </c:pt>
                <c:pt idx="5">
                  <c:v>Education</c:v>
                </c:pt>
                <c:pt idx="6">
                  <c:v>Family &amp; Community Services</c:v>
                </c:pt>
                <c:pt idx="7">
                  <c:v>Justice</c:v>
                </c:pt>
                <c:pt idx="8">
                  <c:v>Health</c:v>
                </c:pt>
                <c:pt idx="9">
                  <c:v>Planning &amp; Environment</c:v>
                </c:pt>
              </c:strCache>
            </c:strRef>
          </c:cat>
          <c:val>
            <c:numRef>
              <c:f>Sheet1!$C$2:$C$11</c:f>
              <c:numCache>
                <c:formatCode>General</c:formatCode>
                <c:ptCount val="10"/>
                <c:pt idx="0">
                  <c:v>18.22</c:v>
                </c:pt>
                <c:pt idx="1">
                  <c:v>27.02</c:v>
                </c:pt>
                <c:pt idx="2">
                  <c:v>10.86</c:v>
                </c:pt>
                <c:pt idx="3">
                  <c:v>17.399999999999999</c:v>
                </c:pt>
                <c:pt idx="4">
                  <c:v>14.18</c:v>
                </c:pt>
                <c:pt idx="5">
                  <c:v>46.84</c:v>
                </c:pt>
                <c:pt idx="6">
                  <c:v>16.920000000000002</c:v>
                </c:pt>
                <c:pt idx="7">
                  <c:v>18.84</c:v>
                </c:pt>
                <c:pt idx="8">
                  <c:v>37.729999999999997</c:v>
                </c:pt>
                <c:pt idx="9">
                  <c:v>24.7</c:v>
                </c:pt>
              </c:numCache>
            </c:numRef>
          </c:val>
          <c:extLst>
            <c:ext xmlns:c16="http://schemas.microsoft.com/office/drawing/2014/chart" uri="{C3380CC4-5D6E-409C-BE32-E72D297353CC}">
              <c16:uniqueId val="{00000001-B481-1D4D-B382-7B0C0CEA236F}"/>
            </c:ext>
          </c:extLst>
        </c:ser>
        <c:dLbls>
          <c:showLegendKey val="0"/>
          <c:showVal val="0"/>
          <c:showCatName val="0"/>
          <c:showSerName val="0"/>
          <c:showPercent val="0"/>
          <c:showBubbleSize val="0"/>
        </c:dLbls>
        <c:gapWidth val="35"/>
        <c:overlap val="-8"/>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0D5DD"/>
            </a:solidFill>
            <a:prstDash val="solid"/>
            <a:round/>
          </a:ln>
        </c:spPr>
        <c:txPr>
          <a:bodyPr/>
          <a:lstStyle/>
          <a:p>
            <a:pPr>
              <a:defRPr sz="1050" b="0" i="0" u="none" strike="noStrike">
                <a:solidFill>
                  <a:srgbClr val="1C2430"/>
                </a:solidFill>
                <a:latin typeface="Calibri"/>
              </a:defRPr>
            </a:pPr>
            <a:endParaRPr lang="en-US"/>
          </a:p>
        </c:txPr>
        <c:crossAx val="2094734552"/>
        <c:crosses val="autoZero"/>
        <c:auto val="1"/>
        <c:lblAlgn val="ctr"/>
        <c:lblOffset val="100"/>
        <c:noMultiLvlLbl val="1"/>
      </c:catAx>
      <c:valAx>
        <c:axId val="2094734552"/>
        <c:scaling>
          <c:orientation val="minMax"/>
          <c:max val="50"/>
          <c:min val="0"/>
        </c:scaling>
        <c:delete val="0"/>
        <c:axPos val="b"/>
        <c:majorGridlines>
          <c:spPr>
            <a:ln w="9525" cap="flat">
              <a:solidFill>
                <a:srgbClr val="E7EAF0"/>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850" b="0" i="0" u="none" strike="noStrike">
                <a:solidFill>
                  <a:srgbClr val="667085"/>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solidFill>
                <a:srgbClr val="667085"/>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2018 (actual)</c:v>
                </c:pt>
              </c:strCache>
            </c:strRef>
          </c:tx>
          <c:spPr>
            <a:solidFill>
              <a:srgbClr val="0B1E46"/>
            </a:solidFill>
            <a:effectLst/>
          </c:spPr>
          <c:invertIfNegative val="0"/>
          <c:dLbls>
            <c:numFmt formatCode="0.0&quot;%&quot;" sourceLinked="0"/>
            <c:spPr>
              <a:noFill/>
              <a:ln>
                <a:noFill/>
              </a:ln>
              <a:effectLst/>
            </c:spPr>
            <c:txPr>
              <a:bodyPr/>
              <a:lstStyle/>
              <a:p>
                <a:pPr>
                  <a:defRPr sz="1050" b="1" i="0" u="none" strike="noStrike">
                    <a:solidFill>
                      <a:srgbClr val="1C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Total Sector</c:v>
                </c:pt>
                <c:pt idx="1">
                  <c:v>Female</c:v>
                </c:pt>
                <c:pt idx="2">
                  <c:v>Male</c:v>
                </c:pt>
              </c:strCache>
            </c:strRef>
          </c:cat>
          <c:val>
            <c:numRef>
              <c:f>Sheet1!$B$2:$B$4</c:f>
              <c:numCache>
                <c:formatCode>General</c:formatCode>
                <c:ptCount val="3"/>
                <c:pt idx="0">
                  <c:v>29.58</c:v>
                </c:pt>
                <c:pt idx="1">
                  <c:v>36.67</c:v>
                </c:pt>
                <c:pt idx="2">
                  <c:v>16.52</c:v>
                </c:pt>
              </c:numCache>
            </c:numRef>
          </c:val>
          <c:extLst>
            <c:ext xmlns:c16="http://schemas.microsoft.com/office/drawing/2014/chart" uri="{C3380CC4-5D6E-409C-BE32-E72D297353CC}">
              <c16:uniqueId val="{00000000-EC13-DE43-B7A3-71C6DEF0BBC2}"/>
            </c:ext>
          </c:extLst>
        </c:ser>
        <c:ser>
          <c:idx val="1"/>
          <c:order val="1"/>
          <c:tx>
            <c:strRef>
              <c:f>Sheet1!$C$1</c:f>
              <c:strCache>
                <c:ptCount val="1"/>
                <c:pt idx="0">
                  <c:v>2025 (projected)</c:v>
                </c:pt>
              </c:strCache>
            </c:strRef>
          </c:tx>
          <c:spPr>
            <a:solidFill>
              <a:schemeClr val="accent6">
                <a:lumMod val="75000"/>
              </a:schemeClr>
            </a:solidFill>
            <a:effectLst/>
          </c:spPr>
          <c:invertIfNegative val="0"/>
          <c:dLbls>
            <c:numFmt formatCode="0.0&quot;%&quot;" sourceLinked="0"/>
            <c:spPr>
              <a:noFill/>
              <a:ln>
                <a:noFill/>
              </a:ln>
              <a:effectLst/>
            </c:spPr>
            <c:txPr>
              <a:bodyPr/>
              <a:lstStyle/>
              <a:p>
                <a:pPr>
                  <a:defRPr sz="1050" b="1" i="0" u="none" strike="noStrike">
                    <a:solidFill>
                      <a:srgbClr val="1C243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Total Sector</c:v>
                </c:pt>
                <c:pt idx="1">
                  <c:v>Female</c:v>
                </c:pt>
                <c:pt idx="2">
                  <c:v>Male</c:v>
                </c:pt>
              </c:strCache>
            </c:strRef>
          </c:cat>
          <c:val>
            <c:numRef>
              <c:f>Sheet1!$C$2:$C$4</c:f>
              <c:numCache>
                <c:formatCode>General</c:formatCode>
                <c:ptCount val="3"/>
                <c:pt idx="0">
                  <c:v>34.68</c:v>
                </c:pt>
                <c:pt idx="1">
                  <c:v>37.93</c:v>
                </c:pt>
                <c:pt idx="2">
                  <c:v>27.62</c:v>
                </c:pt>
              </c:numCache>
            </c:numRef>
          </c:val>
          <c:extLst>
            <c:ext xmlns:c16="http://schemas.microsoft.com/office/drawing/2014/chart" uri="{C3380CC4-5D6E-409C-BE32-E72D297353CC}">
              <c16:uniqueId val="{00000001-EC13-DE43-B7A3-71C6DEF0BBC2}"/>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0D5DD"/>
            </a:solidFill>
            <a:prstDash val="solid"/>
            <a:round/>
          </a:ln>
        </c:spPr>
        <c:txPr>
          <a:bodyPr/>
          <a:lstStyle/>
          <a:p>
            <a:pPr>
              <a:defRPr sz="1200" b="0" i="0" u="none" strike="noStrike">
                <a:solidFill>
                  <a:srgbClr val="1C2430"/>
                </a:solidFill>
                <a:latin typeface="Calibri"/>
              </a:defRPr>
            </a:pPr>
            <a:endParaRPr lang="en-US"/>
          </a:p>
        </c:txPr>
        <c:crossAx val="2094734552"/>
        <c:crosses val="autoZero"/>
        <c:auto val="1"/>
        <c:lblAlgn val="ctr"/>
        <c:lblOffset val="100"/>
        <c:noMultiLvlLbl val="1"/>
      </c:catAx>
      <c:valAx>
        <c:axId val="2094734552"/>
        <c:scaling>
          <c:orientation val="minMax"/>
          <c:max val="45"/>
          <c:min val="0"/>
        </c:scaling>
        <c:delete val="0"/>
        <c:axPos val="l"/>
        <c:majorGridlines>
          <c:spPr>
            <a:ln w="9525" cap="flat">
              <a:solidFill>
                <a:srgbClr val="E7EAF0"/>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667085"/>
                </a:solidFill>
                <a:latin typeface="Calibri"/>
              </a:defRPr>
            </a:pPr>
            <a:endParaRPr lang="en-US"/>
          </a:p>
        </c:txPr>
        <c:crossAx val="2094734554"/>
        <c:crosses val="autoZero"/>
        <c:crossBetween val="between"/>
        <c:majorUnit val="15"/>
      </c:valAx>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Finance, Services
&amp; Innovation</c:v>
                </c:pt>
              </c:strCache>
            </c:strRef>
          </c:tx>
          <c:spPr>
            <a:ln w="25400" cap="flat">
              <a:solidFill>
                <a:srgbClr val="0B1E46"/>
              </a:solidFill>
              <a:prstDash val="solid"/>
              <a:round/>
            </a:ln>
            <a:effectLst/>
          </c:spPr>
          <c:marker>
            <c:symbol val="circle"/>
            <c:size val="3"/>
            <c:spPr>
              <a:solidFill>
                <a:srgbClr val="0B1E46"/>
              </a:solidFill>
              <a:ln w="9525" cap="flat">
                <a:noFill/>
                <a:prstDash val="solid"/>
                <a:round/>
              </a:ln>
              <a:effectLst/>
            </c:spPr>
          </c:marker>
          <c:cat>
            <c:strRef>
              <c:f>Sheet1!$A$2:$A$6</c:f>
              <c:strCache>
                <c:ptCount val="5"/>
                <c:pt idx="0">
                  <c:v>2014</c:v>
                </c:pt>
                <c:pt idx="1">
                  <c:v>2015</c:v>
                </c:pt>
                <c:pt idx="2">
                  <c:v>2016</c:v>
                </c:pt>
                <c:pt idx="3">
                  <c:v>2017</c:v>
                </c:pt>
                <c:pt idx="4">
                  <c:v>2018</c:v>
                </c:pt>
              </c:strCache>
            </c:strRef>
          </c:cat>
          <c:val>
            <c:numRef>
              <c:f>Sheet1!$B$2:$B$6</c:f>
              <c:numCache>
                <c:formatCode>General</c:formatCode>
                <c:ptCount val="5"/>
                <c:pt idx="0">
                  <c:v>9.69</c:v>
                </c:pt>
                <c:pt idx="1">
                  <c:v>12.38</c:v>
                </c:pt>
                <c:pt idx="2">
                  <c:v>15.32</c:v>
                </c:pt>
                <c:pt idx="3">
                  <c:v>21.67</c:v>
                </c:pt>
                <c:pt idx="4">
                  <c:v>24.16</c:v>
                </c:pt>
              </c:numCache>
            </c:numRef>
          </c:val>
          <c:smooth val="0"/>
          <c:extLst>
            <c:ext xmlns:c16="http://schemas.microsoft.com/office/drawing/2014/chart" uri="{C3380CC4-5D6E-409C-BE32-E72D297353CC}">
              <c16:uniqueId val="{00000000-1765-854D-AC19-7F39E2E14BA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Education</c:v>
                </c:pt>
              </c:strCache>
            </c:strRef>
          </c:tx>
          <c:spPr>
            <a:ln w="25400" cap="flat">
              <a:solidFill>
                <a:srgbClr val="0B1E46"/>
              </a:solidFill>
              <a:prstDash val="solid"/>
              <a:round/>
            </a:ln>
            <a:effectLst/>
          </c:spPr>
          <c:marker>
            <c:symbol val="circle"/>
            <c:size val="3"/>
            <c:spPr>
              <a:solidFill>
                <a:srgbClr val="0B1E46"/>
              </a:solidFill>
              <a:ln w="9525" cap="flat">
                <a:noFill/>
                <a:prstDash val="solid"/>
                <a:round/>
              </a:ln>
              <a:effectLst/>
            </c:spPr>
          </c:marker>
          <c:cat>
            <c:strRef>
              <c:f>Sheet1!$A$2:$A$6</c:f>
              <c:strCache>
                <c:ptCount val="5"/>
                <c:pt idx="0">
                  <c:v>2014</c:v>
                </c:pt>
                <c:pt idx="1">
                  <c:v>2015</c:v>
                </c:pt>
                <c:pt idx="2">
                  <c:v>2016</c:v>
                </c:pt>
                <c:pt idx="3">
                  <c:v>2017</c:v>
                </c:pt>
                <c:pt idx="4">
                  <c:v>2018</c:v>
                </c:pt>
              </c:strCache>
            </c:strRef>
          </c:cat>
          <c:val>
            <c:numRef>
              <c:f>Sheet1!$B$2:$B$6</c:f>
              <c:numCache>
                <c:formatCode>General</c:formatCode>
                <c:ptCount val="5"/>
                <c:pt idx="0">
                  <c:v>39.74</c:v>
                </c:pt>
                <c:pt idx="1">
                  <c:v>41.37</c:v>
                </c:pt>
                <c:pt idx="2">
                  <c:v>42.3</c:v>
                </c:pt>
                <c:pt idx="3">
                  <c:v>43.56</c:v>
                </c:pt>
                <c:pt idx="4">
                  <c:v>44.2</c:v>
                </c:pt>
              </c:numCache>
            </c:numRef>
          </c:val>
          <c:smooth val="0"/>
          <c:extLst>
            <c:ext xmlns:c16="http://schemas.microsoft.com/office/drawing/2014/chart" uri="{C3380CC4-5D6E-409C-BE32-E72D297353CC}">
              <c16:uniqueId val="{00000000-FC81-9A44-88A7-B62796C48AB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Transport</c:v>
                </c:pt>
              </c:strCache>
            </c:strRef>
          </c:tx>
          <c:spPr>
            <a:ln w="25400" cap="flat">
              <a:solidFill>
                <a:srgbClr val="0B1E46"/>
              </a:solidFill>
              <a:prstDash val="solid"/>
              <a:round/>
            </a:ln>
            <a:effectLst/>
          </c:spPr>
          <c:marker>
            <c:symbol val="circle"/>
            <c:size val="3"/>
            <c:spPr>
              <a:solidFill>
                <a:srgbClr val="0B1E46"/>
              </a:solidFill>
              <a:ln w="9525" cap="flat">
                <a:noFill/>
                <a:prstDash val="solid"/>
                <a:round/>
              </a:ln>
              <a:effectLst/>
            </c:spPr>
          </c:marker>
          <c:cat>
            <c:strRef>
              <c:f>Sheet1!$A$2:$A$6</c:f>
              <c:strCache>
                <c:ptCount val="5"/>
                <c:pt idx="0">
                  <c:v>2014</c:v>
                </c:pt>
                <c:pt idx="1">
                  <c:v>2015</c:v>
                </c:pt>
                <c:pt idx="2">
                  <c:v>2016</c:v>
                </c:pt>
                <c:pt idx="3">
                  <c:v>2017</c:v>
                </c:pt>
                <c:pt idx="4">
                  <c:v>2018</c:v>
                </c:pt>
              </c:strCache>
            </c:strRef>
          </c:cat>
          <c:val>
            <c:numRef>
              <c:f>Sheet1!$B$2:$B$6</c:f>
              <c:numCache>
                <c:formatCode>General</c:formatCode>
                <c:ptCount val="5"/>
                <c:pt idx="0">
                  <c:v>9.92</c:v>
                </c:pt>
                <c:pt idx="1">
                  <c:v>8.9499999999999993</c:v>
                </c:pt>
                <c:pt idx="2">
                  <c:v>9.17</c:v>
                </c:pt>
                <c:pt idx="3">
                  <c:v>11.81</c:v>
                </c:pt>
                <c:pt idx="4">
                  <c:v>14.23</c:v>
                </c:pt>
              </c:numCache>
            </c:numRef>
          </c:val>
          <c:smooth val="0"/>
          <c:extLst>
            <c:ext xmlns:c16="http://schemas.microsoft.com/office/drawing/2014/chart" uri="{C3380CC4-5D6E-409C-BE32-E72D297353CC}">
              <c16:uniqueId val="{00000000-3D57-B24F-BA21-953C5E869BD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Treasury</c:v>
                </c:pt>
              </c:strCache>
            </c:strRef>
          </c:tx>
          <c:spPr>
            <a:ln w="25400" cap="flat">
              <a:solidFill>
                <a:srgbClr val="0B1E46"/>
              </a:solidFill>
              <a:prstDash val="solid"/>
              <a:round/>
            </a:ln>
            <a:effectLst/>
          </c:spPr>
          <c:marker>
            <c:symbol val="circle"/>
            <c:size val="3"/>
            <c:spPr>
              <a:solidFill>
                <a:srgbClr val="0B1E46"/>
              </a:solidFill>
              <a:ln w="9525" cap="flat">
                <a:noFill/>
                <a:prstDash val="solid"/>
                <a:round/>
              </a:ln>
              <a:effectLst/>
            </c:spPr>
          </c:marker>
          <c:cat>
            <c:strRef>
              <c:f>Sheet1!$A$2:$A$6</c:f>
              <c:strCache>
                <c:ptCount val="5"/>
                <c:pt idx="0">
                  <c:v>2014</c:v>
                </c:pt>
                <c:pt idx="1">
                  <c:v>2015</c:v>
                </c:pt>
                <c:pt idx="2">
                  <c:v>2016</c:v>
                </c:pt>
                <c:pt idx="3">
                  <c:v>2017</c:v>
                </c:pt>
                <c:pt idx="4">
                  <c:v>2018</c:v>
                </c:pt>
              </c:strCache>
            </c:strRef>
          </c:cat>
          <c:val>
            <c:numRef>
              <c:f>Sheet1!$B$2:$B$6</c:f>
              <c:numCache>
                <c:formatCode>General</c:formatCode>
                <c:ptCount val="5"/>
                <c:pt idx="0">
                  <c:v>5.73</c:v>
                </c:pt>
                <c:pt idx="1">
                  <c:v>14.86</c:v>
                </c:pt>
                <c:pt idx="2">
                  <c:v>14.76</c:v>
                </c:pt>
                <c:pt idx="3">
                  <c:v>9.7200000000000006</c:v>
                </c:pt>
                <c:pt idx="4">
                  <c:v>9.74</c:v>
                </c:pt>
              </c:numCache>
            </c:numRef>
          </c:val>
          <c:smooth val="0"/>
          <c:extLst>
            <c:ext xmlns:c16="http://schemas.microsoft.com/office/drawing/2014/chart" uri="{C3380CC4-5D6E-409C-BE32-E72D297353CC}">
              <c16:uniqueId val="{00000000-50F9-B445-903D-8438A22DB32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Health</c:v>
                </c:pt>
              </c:strCache>
            </c:strRef>
          </c:tx>
          <c:spPr>
            <a:ln w="25400" cap="flat">
              <a:solidFill>
                <a:srgbClr val="0B1E46"/>
              </a:solidFill>
              <a:prstDash val="solid"/>
              <a:round/>
            </a:ln>
            <a:effectLst/>
          </c:spPr>
          <c:marker>
            <c:symbol val="circle"/>
            <c:size val="3"/>
            <c:spPr>
              <a:solidFill>
                <a:srgbClr val="0B1E46"/>
              </a:solidFill>
              <a:ln w="9525" cap="flat">
                <a:noFill/>
                <a:prstDash val="solid"/>
                <a:round/>
              </a:ln>
              <a:effectLst/>
            </c:spPr>
          </c:marker>
          <c:cat>
            <c:strRef>
              <c:f>Sheet1!$A$2:$A$6</c:f>
              <c:strCache>
                <c:ptCount val="5"/>
                <c:pt idx="0">
                  <c:v>2014</c:v>
                </c:pt>
                <c:pt idx="1">
                  <c:v>2015</c:v>
                </c:pt>
                <c:pt idx="2">
                  <c:v>2016</c:v>
                </c:pt>
                <c:pt idx="3">
                  <c:v>2017</c:v>
                </c:pt>
                <c:pt idx="4">
                  <c:v>2018</c:v>
                </c:pt>
              </c:strCache>
            </c:strRef>
          </c:cat>
          <c:val>
            <c:numRef>
              <c:f>Sheet1!$B$2:$B$6</c:f>
              <c:numCache>
                <c:formatCode>General</c:formatCode>
                <c:ptCount val="5"/>
                <c:pt idx="0">
                  <c:v>30.8</c:v>
                </c:pt>
                <c:pt idx="1">
                  <c:v>31.64</c:v>
                </c:pt>
                <c:pt idx="2">
                  <c:v>31.32</c:v>
                </c:pt>
                <c:pt idx="3">
                  <c:v>32.229999999999997</c:v>
                </c:pt>
                <c:pt idx="4">
                  <c:v>33.15</c:v>
                </c:pt>
              </c:numCache>
            </c:numRef>
          </c:val>
          <c:smooth val="0"/>
          <c:extLst>
            <c:ext xmlns:c16="http://schemas.microsoft.com/office/drawing/2014/chart" uri="{C3380CC4-5D6E-409C-BE32-E72D297353CC}">
              <c16:uniqueId val="{00000000-88C2-6D4B-B692-1C108BEF9D6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Justice</c:v>
                </c:pt>
              </c:strCache>
            </c:strRef>
          </c:tx>
          <c:spPr>
            <a:ln w="25400" cap="flat">
              <a:solidFill>
                <a:srgbClr val="0B1E46"/>
              </a:solidFill>
              <a:prstDash val="solid"/>
              <a:round/>
            </a:ln>
            <a:effectLst/>
          </c:spPr>
          <c:marker>
            <c:symbol val="circle"/>
            <c:size val="3"/>
            <c:spPr>
              <a:solidFill>
                <a:srgbClr val="0B1E46"/>
              </a:solidFill>
              <a:ln w="9525" cap="flat">
                <a:noFill/>
                <a:prstDash val="solid"/>
                <a:round/>
              </a:ln>
              <a:effectLst/>
            </c:spPr>
          </c:marker>
          <c:cat>
            <c:strRef>
              <c:f>Sheet1!$A$2:$A$6</c:f>
              <c:strCache>
                <c:ptCount val="5"/>
                <c:pt idx="0">
                  <c:v>2014</c:v>
                </c:pt>
                <c:pt idx="1">
                  <c:v>2015</c:v>
                </c:pt>
                <c:pt idx="2">
                  <c:v>2016</c:v>
                </c:pt>
                <c:pt idx="3">
                  <c:v>2017</c:v>
                </c:pt>
                <c:pt idx="4">
                  <c:v>2018</c:v>
                </c:pt>
              </c:strCache>
            </c:strRef>
          </c:cat>
          <c:val>
            <c:numRef>
              <c:f>Sheet1!$B$2:$B$6</c:f>
              <c:numCache>
                <c:formatCode>General</c:formatCode>
                <c:ptCount val="5"/>
                <c:pt idx="0">
                  <c:v>8.85</c:v>
                </c:pt>
                <c:pt idx="1">
                  <c:v>8.81</c:v>
                </c:pt>
                <c:pt idx="2">
                  <c:v>6.85</c:v>
                </c:pt>
                <c:pt idx="3">
                  <c:v>9.2200000000000006</c:v>
                </c:pt>
                <c:pt idx="4">
                  <c:v>10.57</c:v>
                </c:pt>
              </c:numCache>
            </c:numRef>
          </c:val>
          <c:smooth val="0"/>
          <c:extLst>
            <c:ext xmlns:c16="http://schemas.microsoft.com/office/drawing/2014/chart" uri="{C3380CC4-5D6E-409C-BE32-E72D297353CC}">
              <c16:uniqueId val="{00000000-FC65-224F-A981-DB240641306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Planning &amp;
Environment</c:v>
                </c:pt>
              </c:strCache>
            </c:strRef>
          </c:tx>
          <c:spPr>
            <a:ln w="25400" cap="flat">
              <a:solidFill>
                <a:srgbClr val="0B1E46"/>
              </a:solidFill>
              <a:prstDash val="solid"/>
              <a:round/>
            </a:ln>
            <a:effectLst/>
          </c:spPr>
          <c:marker>
            <c:symbol val="circle"/>
            <c:size val="3"/>
            <c:spPr>
              <a:solidFill>
                <a:srgbClr val="0B1E46"/>
              </a:solidFill>
              <a:ln w="9525" cap="flat">
                <a:noFill/>
                <a:prstDash val="solid"/>
                <a:round/>
              </a:ln>
              <a:effectLst/>
            </c:spPr>
          </c:marker>
          <c:cat>
            <c:strRef>
              <c:f>Sheet1!$A$2:$A$6</c:f>
              <c:strCache>
                <c:ptCount val="5"/>
                <c:pt idx="0">
                  <c:v>2014</c:v>
                </c:pt>
                <c:pt idx="1">
                  <c:v>2015</c:v>
                </c:pt>
                <c:pt idx="2">
                  <c:v>2016</c:v>
                </c:pt>
                <c:pt idx="3">
                  <c:v>2017</c:v>
                </c:pt>
                <c:pt idx="4">
                  <c:v>2018</c:v>
                </c:pt>
              </c:strCache>
            </c:strRef>
          </c:cat>
          <c:val>
            <c:numRef>
              <c:f>Sheet1!$B$2:$B$6</c:f>
              <c:numCache>
                <c:formatCode>General</c:formatCode>
                <c:ptCount val="5"/>
                <c:pt idx="0">
                  <c:v>13.57</c:v>
                </c:pt>
                <c:pt idx="1">
                  <c:v>14.01</c:v>
                </c:pt>
                <c:pt idx="2">
                  <c:v>13.87</c:v>
                </c:pt>
                <c:pt idx="3">
                  <c:v>14.82</c:v>
                </c:pt>
                <c:pt idx="4">
                  <c:v>14.19</c:v>
                </c:pt>
              </c:numCache>
            </c:numRef>
          </c:val>
          <c:smooth val="0"/>
          <c:extLst>
            <c:ext xmlns:c16="http://schemas.microsoft.com/office/drawing/2014/chart" uri="{C3380CC4-5D6E-409C-BE32-E72D297353CC}">
              <c16:uniqueId val="{00000000-9C68-EB4E-A77C-03B8DF9F38A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Premier &amp;
Cabinet</c:v>
                </c:pt>
              </c:strCache>
            </c:strRef>
          </c:tx>
          <c:spPr>
            <a:ln w="25400" cap="flat">
              <a:solidFill>
                <a:srgbClr val="E3153D"/>
              </a:solidFill>
              <a:prstDash val="solid"/>
              <a:round/>
            </a:ln>
            <a:effectLst/>
          </c:spPr>
          <c:marker>
            <c:symbol val="circle"/>
            <c:size val="3"/>
            <c:spPr>
              <a:solidFill>
                <a:srgbClr val="E3153D"/>
              </a:solidFill>
              <a:ln w="9525" cap="flat">
                <a:noFill/>
                <a:prstDash val="solid"/>
                <a:round/>
              </a:ln>
              <a:effectLst/>
            </c:spPr>
          </c:marker>
          <c:cat>
            <c:strRef>
              <c:f>Sheet1!$A$2:$A$6</c:f>
              <c:strCache>
                <c:ptCount val="5"/>
                <c:pt idx="0">
                  <c:v>2014</c:v>
                </c:pt>
                <c:pt idx="1">
                  <c:v>2015</c:v>
                </c:pt>
                <c:pt idx="2">
                  <c:v>2016</c:v>
                </c:pt>
                <c:pt idx="3">
                  <c:v>2017</c:v>
                </c:pt>
                <c:pt idx="4">
                  <c:v>2018</c:v>
                </c:pt>
              </c:strCache>
            </c:strRef>
          </c:cat>
          <c:val>
            <c:numRef>
              <c:f>Sheet1!$B$2:$B$6</c:f>
              <c:numCache>
                <c:formatCode>General</c:formatCode>
                <c:ptCount val="5"/>
                <c:pt idx="0">
                  <c:v>13.86</c:v>
                </c:pt>
                <c:pt idx="1">
                  <c:v>14.25</c:v>
                </c:pt>
                <c:pt idx="2">
                  <c:v>14.94</c:v>
                </c:pt>
                <c:pt idx="3">
                  <c:v>13.79</c:v>
                </c:pt>
                <c:pt idx="4">
                  <c:v>12.92</c:v>
                </c:pt>
              </c:numCache>
            </c:numRef>
          </c:val>
          <c:smooth val="0"/>
          <c:extLst>
            <c:ext xmlns:c16="http://schemas.microsoft.com/office/drawing/2014/chart" uri="{C3380CC4-5D6E-409C-BE32-E72D297353CC}">
              <c16:uniqueId val="{00000000-D120-4B48-8623-061C552E6B5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Industry</c:v>
                </c:pt>
              </c:strCache>
            </c:strRef>
          </c:tx>
          <c:spPr>
            <a:ln w="25400" cap="flat">
              <a:solidFill>
                <a:srgbClr val="E3153D"/>
              </a:solidFill>
              <a:prstDash val="solid"/>
              <a:round/>
            </a:ln>
            <a:effectLst/>
          </c:spPr>
          <c:marker>
            <c:symbol val="circle"/>
            <c:size val="3"/>
            <c:spPr>
              <a:solidFill>
                <a:srgbClr val="E3153D"/>
              </a:solidFill>
              <a:ln w="9525" cap="flat">
                <a:noFill/>
                <a:prstDash val="solid"/>
                <a:round/>
              </a:ln>
              <a:effectLst/>
            </c:spPr>
          </c:marker>
          <c:cat>
            <c:strRef>
              <c:f>Sheet1!$A$2:$A$6</c:f>
              <c:strCache>
                <c:ptCount val="5"/>
                <c:pt idx="0">
                  <c:v>2014</c:v>
                </c:pt>
                <c:pt idx="1">
                  <c:v>2015</c:v>
                </c:pt>
                <c:pt idx="2">
                  <c:v>2016</c:v>
                </c:pt>
                <c:pt idx="3">
                  <c:v>2017</c:v>
                </c:pt>
                <c:pt idx="4">
                  <c:v>2018</c:v>
                </c:pt>
              </c:strCache>
            </c:strRef>
          </c:cat>
          <c:val>
            <c:numRef>
              <c:f>Sheet1!$B$2:$B$6</c:f>
              <c:numCache>
                <c:formatCode>General</c:formatCode>
                <c:ptCount val="5"/>
                <c:pt idx="0">
                  <c:v>12.19</c:v>
                </c:pt>
                <c:pt idx="1">
                  <c:v>12.1</c:v>
                </c:pt>
                <c:pt idx="2">
                  <c:v>11.18</c:v>
                </c:pt>
                <c:pt idx="3">
                  <c:v>11.76</c:v>
                </c:pt>
                <c:pt idx="4">
                  <c:v>6.66</c:v>
                </c:pt>
              </c:numCache>
            </c:numRef>
          </c:val>
          <c:smooth val="0"/>
          <c:extLst>
            <c:ext xmlns:c16="http://schemas.microsoft.com/office/drawing/2014/chart" uri="{C3380CC4-5D6E-409C-BE32-E72D297353CC}">
              <c16:uniqueId val="{00000000-BD4E-5A4D-9288-7EEF290CF89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Family &amp;
Community Services</c:v>
                </c:pt>
              </c:strCache>
            </c:strRef>
          </c:tx>
          <c:spPr>
            <a:ln w="25400" cap="flat">
              <a:solidFill>
                <a:srgbClr val="E3153D"/>
              </a:solidFill>
              <a:prstDash val="solid"/>
              <a:round/>
            </a:ln>
            <a:effectLst/>
          </c:spPr>
          <c:marker>
            <c:symbol val="circle"/>
            <c:size val="3"/>
            <c:spPr>
              <a:solidFill>
                <a:srgbClr val="E3153D"/>
              </a:solidFill>
              <a:ln w="9525" cap="flat">
                <a:noFill/>
                <a:prstDash val="solid"/>
                <a:round/>
              </a:ln>
              <a:effectLst/>
            </c:spPr>
          </c:marker>
          <c:cat>
            <c:strRef>
              <c:f>Sheet1!$A$2:$A$6</c:f>
              <c:strCache>
                <c:ptCount val="5"/>
                <c:pt idx="0">
                  <c:v>2014</c:v>
                </c:pt>
                <c:pt idx="1">
                  <c:v>2015</c:v>
                </c:pt>
                <c:pt idx="2">
                  <c:v>2016</c:v>
                </c:pt>
                <c:pt idx="3">
                  <c:v>2017</c:v>
                </c:pt>
                <c:pt idx="4">
                  <c:v>2018</c:v>
                </c:pt>
              </c:strCache>
            </c:strRef>
          </c:cat>
          <c:val>
            <c:numRef>
              <c:f>Sheet1!$B$2:$B$6</c:f>
              <c:numCache>
                <c:formatCode>General</c:formatCode>
                <c:ptCount val="5"/>
                <c:pt idx="0">
                  <c:v>33.229999999999997</c:v>
                </c:pt>
                <c:pt idx="1">
                  <c:v>33.549999999999997</c:v>
                </c:pt>
                <c:pt idx="2">
                  <c:v>22.63</c:v>
                </c:pt>
                <c:pt idx="3">
                  <c:v>22.47</c:v>
                </c:pt>
                <c:pt idx="4">
                  <c:v>14.16</c:v>
                </c:pt>
              </c:numCache>
            </c:numRef>
          </c:val>
          <c:smooth val="0"/>
          <c:extLst>
            <c:ext xmlns:c16="http://schemas.microsoft.com/office/drawing/2014/chart" uri="{C3380CC4-5D6E-409C-BE32-E72D297353CC}">
              <c16:uniqueId val="{00000000-920A-D249-8C75-99503B496CF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5018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Sets up the update as an evidence base for the Committee’s equal part-time representation goal.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Frames the update’s purpose and scope, and defines the key terms used throughout (drawn from the source data glossary).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sector headcount is nearly flat 2014-2018, but this masks opposite movements by gender: female headcount +0.52%, male headcount -3.05%.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Female share of the sector rose from 64.0% to 64.8% over the period; male share fell correspondingly from 36.0% to 35.2%.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Part-time rates are rising sector-wide, but male part-time representation grew far faster in pp terms (+6.3pp) than female (+0.7pp), even though it started from a much lower base.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Cluster-level PP change 2014-2018, sorted from biggest decline to biggest increase. Highlight Finance Services &amp; Innovation (+14.5pp) and Family &amp; Community Services (-19.1pp) as the extremes.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Gender gap in PT rates by cluster, sorted narrowest to widest. Widest gaps: Planning &amp; Environment (19.6pp), Health (17.8pp). Narrowest: Transport (5.3pp), Finance Services &amp; Innovation (7.1pp).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Projections assume the 2014-2018 sector-wide linear trend continues. Male PT rate nearly closes the gap with female, but a ~10pp gender gap in part-time rates would remain in 2025.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ten clusters shown together, ordered by PP change (biggest gain to biggest decline), each on its own auto-scaled axis so the shape of its journey is visible. Finance, Services &amp; Innovation and Education climb steadily; Treasury spikes early then settles; Family &amp; Community Services falls sharply after 2015.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open discussion questions for the Committee, grounded directly in the preceding analysis. Framed as questions, not recommendations, consistent with this being an analytical update.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1.png"/><Relationship Id="rId4" Type="http://schemas.openxmlformats.org/officeDocument/2006/relationships/chart" Target="../charts/char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8" Type="http://schemas.openxmlformats.org/officeDocument/2006/relationships/chart" Target="../charts/chart11.xml"/><Relationship Id="rId13" Type="http://schemas.openxmlformats.org/officeDocument/2006/relationships/chart" Target="../charts/chart16.xml"/><Relationship Id="rId3" Type="http://schemas.openxmlformats.org/officeDocument/2006/relationships/image" Target="../media/image12.png"/><Relationship Id="rId7" Type="http://schemas.openxmlformats.org/officeDocument/2006/relationships/chart" Target="../charts/chart10.xml"/><Relationship Id="rId12" Type="http://schemas.openxmlformats.org/officeDocument/2006/relationships/chart" Target="../charts/chart15.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hart" Target="../charts/chart9.xml"/><Relationship Id="rId11" Type="http://schemas.openxmlformats.org/officeDocument/2006/relationships/chart" Target="../charts/chart14.xml"/><Relationship Id="rId5" Type="http://schemas.openxmlformats.org/officeDocument/2006/relationships/chart" Target="../charts/chart8.xml"/><Relationship Id="rId15" Type="http://schemas.openxmlformats.org/officeDocument/2006/relationships/image" Target="../media/image1.png"/><Relationship Id="rId10" Type="http://schemas.openxmlformats.org/officeDocument/2006/relationships/chart" Target="../charts/chart13.xml"/><Relationship Id="rId4" Type="http://schemas.openxmlformats.org/officeDocument/2006/relationships/chart" Target="../charts/chart7.xml"/><Relationship Id="rId9" Type="http://schemas.openxmlformats.org/officeDocument/2006/relationships/chart" Target="../charts/chart12.xml"/><Relationship Id="rId1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7863840" y="3017521"/>
            <a:ext cx="9875520" cy="9875520"/>
          </a:xfrm>
          <a:prstGeom prst="ellipse">
            <a:avLst/>
          </a:prstGeom>
          <a:solidFill>
            <a:srgbClr val="E3153D">
              <a:alpha val="8000"/>
            </a:srgbClr>
          </a:solidFill>
          <a:ln/>
        </p:spPr>
      </p:sp>
      <p:sp>
        <p:nvSpPr>
          <p:cNvPr id="3" name="Shape 1"/>
          <p:cNvSpPr/>
          <p:nvPr/>
        </p:nvSpPr>
        <p:spPr>
          <a:xfrm>
            <a:off x="9692640" y="4663440"/>
            <a:ext cx="6419088" cy="6419088"/>
          </a:xfrm>
          <a:prstGeom prst="ellipse">
            <a:avLst/>
          </a:prstGeom>
          <a:solidFill>
            <a:srgbClr val="E3153D">
              <a:alpha val="15000"/>
            </a:srgbClr>
          </a:solidFill>
          <a:ln/>
        </p:spPr>
      </p:sp>
      <p:sp>
        <p:nvSpPr>
          <p:cNvPr id="4" name="Text 2"/>
          <p:cNvSpPr/>
          <p:nvPr/>
        </p:nvSpPr>
        <p:spPr>
          <a:xfrm>
            <a:off x="822960" y="1691640"/>
            <a:ext cx="9144000" cy="365760"/>
          </a:xfrm>
          <a:prstGeom prst="rect">
            <a:avLst/>
          </a:prstGeom>
          <a:noFill/>
          <a:ln/>
        </p:spPr>
        <p:txBody>
          <a:bodyPr wrap="square" lIns="0" tIns="0" rIns="0" bIns="0" rtlCol="0" anchor="ctr"/>
          <a:lstStyle/>
          <a:p>
            <a:r>
              <a:rPr lang="en-US" sz="1200" b="1" kern="0" spc="250">
                <a:solidFill>
                  <a:srgbClr val="E3153D"/>
                </a:solidFill>
                <a:ea typeface="Verdana" panose="020B0604030504040204" pitchFamily="34" charset="0"/>
                <a:cs typeface="Calibri" pitchFamily="34" charset="-120"/>
              </a:rPr>
              <a:t>DATA ANALYSIS CASE STUDY PROJECT – AMIT SHARMA</a:t>
            </a:r>
          </a:p>
        </p:txBody>
      </p:sp>
      <p:sp>
        <p:nvSpPr>
          <p:cNvPr id="5" name="Text 3"/>
          <p:cNvSpPr/>
          <p:nvPr/>
        </p:nvSpPr>
        <p:spPr>
          <a:xfrm>
            <a:off x="777240" y="2148840"/>
            <a:ext cx="9875520" cy="1783080"/>
          </a:xfrm>
          <a:prstGeom prst="rect">
            <a:avLst/>
          </a:prstGeom>
          <a:noFill/>
          <a:ln/>
        </p:spPr>
        <p:txBody>
          <a:bodyPr wrap="square" lIns="0" tIns="0" rIns="0" bIns="0" rtlCol="0" anchor="ctr"/>
          <a:lstStyle/>
          <a:p>
            <a:pPr marL="0" indent="0">
              <a:lnSpc>
                <a:spcPct val="100000"/>
              </a:lnSpc>
              <a:buNone/>
            </a:pPr>
            <a:r>
              <a:rPr lang="en-US" sz="4400" b="1">
                <a:solidFill>
                  <a:srgbClr val="143980"/>
                </a:solidFill>
                <a:ea typeface="Verdana" panose="020B0604030504040204" pitchFamily="34" charset="0"/>
                <a:cs typeface="Verdana" panose="020B0604030504040204" pitchFamily="34" charset="0"/>
              </a:rPr>
              <a:t>Update for the Workforce Diversity Steering Committee: Equal </a:t>
            </a:r>
            <a:r>
              <a:rPr lang="en-US" sz="4400" b="1" dirty="0">
                <a:solidFill>
                  <a:srgbClr val="143980"/>
                </a:solidFill>
                <a:ea typeface="Verdana" panose="020B0604030504040204" pitchFamily="34" charset="0"/>
                <a:cs typeface="Verdana" panose="020B0604030504040204" pitchFamily="34" charset="0"/>
              </a:rPr>
              <a:t>Part-Time</a:t>
            </a:r>
            <a:endParaRPr lang="en-US" sz="4400" dirty="0">
              <a:solidFill>
                <a:srgbClr val="143980"/>
              </a:solidFill>
            </a:endParaRPr>
          </a:p>
          <a:p>
            <a:pPr marL="0" indent="0">
              <a:lnSpc>
                <a:spcPct val="105000"/>
              </a:lnSpc>
              <a:buNone/>
            </a:pPr>
            <a:r>
              <a:rPr lang="en-US" sz="4400" b="1" dirty="0">
                <a:solidFill>
                  <a:srgbClr val="143980"/>
                </a:solidFill>
                <a:ea typeface="Verdana" panose="020B0604030504040204" pitchFamily="34" charset="0"/>
                <a:cs typeface="Verdana" panose="020B0604030504040204" pitchFamily="34" charset="0"/>
              </a:rPr>
              <a:t>Workforce Representation</a:t>
            </a:r>
            <a:endParaRPr lang="en-US" sz="4400" dirty="0">
              <a:solidFill>
                <a:srgbClr val="143980"/>
              </a:solidFill>
            </a:endParaRPr>
          </a:p>
        </p:txBody>
      </p:sp>
      <p:sp>
        <p:nvSpPr>
          <p:cNvPr id="6" name="Text 4"/>
          <p:cNvSpPr/>
          <p:nvPr/>
        </p:nvSpPr>
        <p:spPr>
          <a:xfrm>
            <a:off x="822959" y="4041648"/>
            <a:ext cx="8003799" cy="685800"/>
          </a:xfrm>
          <a:prstGeom prst="rect">
            <a:avLst/>
          </a:prstGeom>
          <a:noFill/>
          <a:ln/>
        </p:spPr>
        <p:txBody>
          <a:bodyPr wrap="square" lIns="0" tIns="0" rIns="0" bIns="0" rtlCol="0" anchor="ctr"/>
          <a:lstStyle/>
          <a:p>
            <a:pPr marL="0" indent="0">
              <a:lnSpc>
                <a:spcPct val="120000"/>
              </a:lnSpc>
              <a:buNone/>
            </a:pPr>
            <a:r>
              <a:rPr lang="en-US" sz="1400" dirty="0">
                <a:solidFill>
                  <a:schemeClr val="tx1">
                    <a:lumMod val="85000"/>
                    <a:lumOff val="15000"/>
                  </a:schemeClr>
                </a:solidFill>
                <a:ea typeface="Verdana" panose="020B0604030504040204" pitchFamily="34" charset="0"/>
                <a:cs typeface="Calibri" pitchFamily="34" charset="-120"/>
              </a:rPr>
              <a:t>A data-driven update on full-time and part-time employment across the NSW public sector</a:t>
            </a:r>
            <a:r>
              <a:rPr lang="en-US" sz="1400">
                <a:solidFill>
                  <a:schemeClr val="tx1">
                    <a:lumMod val="85000"/>
                    <a:lumOff val="15000"/>
                  </a:schemeClr>
                </a:solidFill>
                <a:ea typeface="Verdana" panose="020B0604030504040204" pitchFamily="34" charset="0"/>
                <a:cs typeface="Calibri" pitchFamily="34" charset="-120"/>
              </a:rPr>
              <a:t>, 2014–2018</a:t>
            </a:r>
            <a:r>
              <a:rPr lang="en-US" sz="1400" dirty="0">
                <a:solidFill>
                  <a:schemeClr val="tx1">
                    <a:lumMod val="85000"/>
                    <a:lumOff val="15000"/>
                  </a:schemeClr>
                </a:solidFill>
                <a:ea typeface="Verdana" panose="020B0604030504040204" pitchFamily="34" charset="0"/>
                <a:cs typeface="Calibri" pitchFamily="34" charset="-120"/>
              </a:rPr>
              <a:t>.</a:t>
            </a:r>
            <a:endParaRPr lang="en-US" sz="1400" dirty="0">
              <a:solidFill>
                <a:schemeClr val="tx1">
                  <a:lumMod val="85000"/>
                  <a:lumOff val="15000"/>
                </a:schemeClr>
              </a:solidFill>
            </a:endParaRPr>
          </a:p>
        </p:txBody>
      </p:sp>
      <p:sp>
        <p:nvSpPr>
          <p:cNvPr id="7" name="Shape 5"/>
          <p:cNvSpPr/>
          <p:nvPr/>
        </p:nvSpPr>
        <p:spPr>
          <a:xfrm>
            <a:off x="822960" y="5166360"/>
            <a:ext cx="2331720" cy="512064"/>
          </a:xfrm>
          <a:prstGeom prst="roundRect">
            <a:avLst>
              <a:gd name="adj" fmla="val 50000"/>
            </a:avLst>
          </a:prstGeom>
          <a:solidFill>
            <a:schemeClr val="tx1">
              <a:lumMod val="85000"/>
              <a:lumOff val="15000"/>
            </a:schemeClr>
          </a:solidFill>
          <a:ln w="12700">
            <a:solidFill>
              <a:schemeClr val="tx1">
                <a:lumMod val="85000"/>
                <a:lumOff val="15000"/>
              </a:schemeClr>
            </a:solidFill>
            <a:prstDash val="solid"/>
          </a:ln>
        </p:spPr>
      </p:sp>
      <p:sp>
        <p:nvSpPr>
          <p:cNvPr id="8" name="Text 6"/>
          <p:cNvSpPr/>
          <p:nvPr/>
        </p:nvSpPr>
        <p:spPr>
          <a:xfrm>
            <a:off x="822960" y="5166360"/>
            <a:ext cx="2331720" cy="512064"/>
          </a:xfrm>
          <a:prstGeom prst="rect">
            <a:avLst/>
          </a:prstGeom>
          <a:noFill/>
          <a:ln/>
        </p:spPr>
        <p:txBody>
          <a:bodyPr wrap="square" lIns="0" tIns="0" rIns="0" bIns="0" rtlCol="0" anchor="ctr"/>
          <a:lstStyle/>
          <a:p>
            <a:pPr marL="0" indent="0" algn="ctr">
              <a:buNone/>
            </a:pPr>
            <a:r>
              <a:rPr lang="en-US" sz="1100" b="1">
                <a:solidFill>
                  <a:srgbClr val="FFFFFF"/>
                </a:solidFill>
                <a:ea typeface="Verdana" panose="020B0604030504040204" pitchFamily="34" charset="0"/>
                <a:cs typeface="Calibri" pitchFamily="34" charset="-120"/>
              </a:rPr>
              <a:t>1,891,836 Employee Records</a:t>
            </a:r>
            <a:endParaRPr lang="en-US" sz="1100" dirty="0"/>
          </a:p>
        </p:txBody>
      </p:sp>
      <p:sp>
        <p:nvSpPr>
          <p:cNvPr id="9" name="Shape 7"/>
          <p:cNvSpPr/>
          <p:nvPr/>
        </p:nvSpPr>
        <p:spPr>
          <a:xfrm>
            <a:off x="3291840" y="5166360"/>
            <a:ext cx="1600200" cy="512064"/>
          </a:xfrm>
          <a:prstGeom prst="roundRect">
            <a:avLst>
              <a:gd name="adj" fmla="val 50000"/>
            </a:avLst>
          </a:prstGeom>
          <a:solidFill>
            <a:schemeClr val="tx1">
              <a:lumMod val="85000"/>
              <a:lumOff val="15000"/>
            </a:schemeClr>
          </a:solidFill>
          <a:ln w="12700">
            <a:solidFill>
              <a:schemeClr val="tx1">
                <a:lumMod val="85000"/>
                <a:lumOff val="15000"/>
              </a:schemeClr>
            </a:solidFill>
            <a:prstDash val="solid"/>
          </a:ln>
        </p:spPr>
      </p:sp>
      <p:sp>
        <p:nvSpPr>
          <p:cNvPr id="10" name="Text 8"/>
          <p:cNvSpPr/>
          <p:nvPr/>
        </p:nvSpPr>
        <p:spPr>
          <a:xfrm>
            <a:off x="3291840" y="5166360"/>
            <a:ext cx="1600200" cy="512064"/>
          </a:xfrm>
          <a:prstGeom prst="rect">
            <a:avLst/>
          </a:prstGeom>
          <a:noFill/>
          <a:ln/>
        </p:spPr>
        <p:txBody>
          <a:bodyPr wrap="square" lIns="0" tIns="0" rIns="0" bIns="0" rtlCol="0" anchor="ctr"/>
          <a:lstStyle/>
          <a:p>
            <a:pPr marL="0" indent="0" algn="ctr">
              <a:buNone/>
            </a:pPr>
            <a:r>
              <a:rPr lang="en-US" sz="1100" b="1">
                <a:solidFill>
                  <a:srgbClr val="FFFFFF"/>
                </a:solidFill>
                <a:ea typeface="Verdana" panose="020B0604030504040204" pitchFamily="34" charset="0"/>
                <a:cs typeface="Calibri" pitchFamily="34" charset="-120"/>
              </a:rPr>
              <a:t>10 Clusters</a:t>
            </a:r>
            <a:endParaRPr lang="en-US" sz="1100" dirty="0"/>
          </a:p>
        </p:txBody>
      </p:sp>
      <p:sp>
        <p:nvSpPr>
          <p:cNvPr id="11" name="Shape 9"/>
          <p:cNvSpPr/>
          <p:nvPr/>
        </p:nvSpPr>
        <p:spPr>
          <a:xfrm>
            <a:off x="5029200" y="5166360"/>
            <a:ext cx="1600200" cy="512064"/>
          </a:xfrm>
          <a:prstGeom prst="roundRect">
            <a:avLst>
              <a:gd name="adj" fmla="val 50000"/>
            </a:avLst>
          </a:prstGeom>
          <a:solidFill>
            <a:schemeClr val="tx1">
              <a:lumMod val="85000"/>
              <a:lumOff val="15000"/>
            </a:schemeClr>
          </a:solidFill>
          <a:ln w="12700">
            <a:solidFill>
              <a:schemeClr val="tx1">
                <a:lumMod val="85000"/>
                <a:lumOff val="15000"/>
              </a:schemeClr>
            </a:solidFill>
            <a:prstDash val="solid"/>
          </a:ln>
        </p:spPr>
      </p:sp>
      <p:sp>
        <p:nvSpPr>
          <p:cNvPr id="12" name="Text 10"/>
          <p:cNvSpPr/>
          <p:nvPr/>
        </p:nvSpPr>
        <p:spPr>
          <a:xfrm>
            <a:off x="5029200" y="5166360"/>
            <a:ext cx="1600200" cy="512064"/>
          </a:xfrm>
          <a:prstGeom prst="rect">
            <a:avLst/>
          </a:prstGeom>
          <a:noFill/>
          <a:ln/>
        </p:spPr>
        <p:txBody>
          <a:bodyPr wrap="square" lIns="0" tIns="0" rIns="0" bIns="0" rtlCol="0" anchor="ctr"/>
          <a:lstStyle/>
          <a:p>
            <a:pPr marL="0" indent="0" algn="ctr">
              <a:buNone/>
            </a:pPr>
            <a:r>
              <a:rPr lang="en-US" sz="1100" b="1">
                <a:solidFill>
                  <a:srgbClr val="FFFFFF"/>
                </a:solidFill>
                <a:ea typeface="Verdana" panose="020B0604030504040204" pitchFamily="34" charset="0"/>
                <a:cs typeface="Calibri" pitchFamily="34" charset="-120"/>
              </a:rPr>
              <a:t>92 Agencies</a:t>
            </a:r>
            <a:endParaRPr lang="en-US" sz="1100" dirty="0"/>
          </a:p>
        </p:txBody>
      </p:sp>
      <p:pic>
        <p:nvPicPr>
          <p:cNvPr id="17" name="Picture 16">
            <a:extLst>
              <a:ext uri="{FF2B5EF4-FFF2-40B4-BE49-F238E27FC236}">
                <a16:creationId xmlns:a16="http://schemas.microsoft.com/office/drawing/2014/main" id="{932B0944-237E-AF2B-3C3C-4E7799E88933}"/>
              </a:ext>
            </a:extLst>
          </p:cNvPr>
          <p:cNvPicPr>
            <a:picLocks noChangeAspect="1"/>
          </p:cNvPicPr>
          <p:nvPr/>
        </p:nvPicPr>
        <p:blipFill>
          <a:blip r:embed="rId3"/>
          <a:stretch>
            <a:fillRect/>
          </a:stretch>
        </p:blipFill>
        <p:spPr>
          <a:xfrm>
            <a:off x="10060685" y="1"/>
            <a:ext cx="2144486" cy="685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65760"/>
            <a:ext cx="9601200" cy="274320"/>
          </a:xfrm>
          <a:prstGeom prst="rect">
            <a:avLst/>
          </a:prstGeom>
          <a:noFill/>
          <a:ln/>
        </p:spPr>
        <p:txBody>
          <a:bodyPr wrap="square" lIns="0" tIns="0" rIns="0" bIns="0" rtlCol="0" anchor="ctr"/>
          <a:lstStyle/>
          <a:p>
            <a:pPr marL="0" indent="0">
              <a:buNone/>
            </a:pPr>
            <a:r>
              <a:rPr lang="en-US" sz="1400" b="1" kern="0" spc="200" dirty="0">
                <a:solidFill>
                  <a:srgbClr val="C00000"/>
                </a:solidFill>
                <a:ea typeface="Calibri" pitchFamily="34" charset="-122"/>
                <a:cs typeface="Calibri" pitchFamily="34" charset="-120"/>
              </a:rPr>
              <a:t>CONTEXT</a:t>
            </a:r>
            <a:endParaRPr lang="en-US" sz="1400" dirty="0">
              <a:solidFill>
                <a:srgbClr val="C00000"/>
              </a:solidFill>
            </a:endParaRPr>
          </a:p>
        </p:txBody>
      </p:sp>
      <p:sp>
        <p:nvSpPr>
          <p:cNvPr id="3" name="Text 1"/>
          <p:cNvSpPr/>
          <p:nvPr/>
        </p:nvSpPr>
        <p:spPr>
          <a:xfrm>
            <a:off x="502920" y="621792"/>
            <a:ext cx="9966960" cy="685800"/>
          </a:xfrm>
          <a:prstGeom prst="rect">
            <a:avLst/>
          </a:prstGeom>
          <a:noFill/>
          <a:ln/>
        </p:spPr>
        <p:txBody>
          <a:bodyPr wrap="square" lIns="0" tIns="0" rIns="0" bIns="0" rtlCol="0" anchor="t"/>
          <a:lstStyle/>
          <a:p>
            <a:pPr marL="0" indent="0">
              <a:buNone/>
            </a:pPr>
            <a:r>
              <a:rPr lang="en-US" sz="2800" b="1" dirty="0">
                <a:solidFill>
                  <a:srgbClr val="143980"/>
                </a:solidFill>
                <a:ea typeface="Cambria" pitchFamily="34" charset="-122"/>
                <a:cs typeface="Cambria" pitchFamily="34" charset="-120"/>
              </a:rPr>
              <a:t>Purpose &amp; Scope of This Update</a:t>
            </a:r>
            <a:endParaRPr lang="en-US" sz="2800" dirty="0">
              <a:solidFill>
                <a:srgbClr val="143980"/>
              </a:solidFill>
            </a:endParaRPr>
          </a:p>
        </p:txBody>
      </p:sp>
      <p:sp>
        <p:nvSpPr>
          <p:cNvPr id="6" name="Text 3"/>
          <p:cNvSpPr/>
          <p:nvPr/>
        </p:nvSpPr>
        <p:spPr>
          <a:xfrm>
            <a:off x="502920" y="1256366"/>
            <a:ext cx="5989320" cy="1600200"/>
          </a:xfrm>
          <a:prstGeom prst="rect">
            <a:avLst/>
          </a:prstGeom>
          <a:noFill/>
          <a:ln/>
        </p:spPr>
        <p:txBody>
          <a:bodyPr wrap="square" lIns="0" tIns="0" rIns="0" bIns="0" rtlCol="0" anchor="ctr"/>
          <a:lstStyle/>
          <a:p>
            <a:pPr>
              <a:lnSpc>
                <a:spcPct val="128000"/>
              </a:lnSpc>
            </a:pPr>
            <a:r>
              <a:rPr lang="en-US" sz="1200">
                <a:solidFill>
                  <a:schemeClr val="tx1">
                    <a:lumMod val="85000"/>
                    <a:lumOff val="15000"/>
                  </a:schemeClr>
                </a:solidFill>
                <a:ea typeface="Calibri" pitchFamily="34" charset="-122"/>
                <a:cs typeface="Calibri" pitchFamily="34" charset="-120"/>
              </a:rPr>
              <a:t>This update, prepared for the Workforce Diversity Steering Committee, examines equal part-time workforce representation across the NSW public sector, the focus named in the discussion paper. It draws on five years of workforce data, by gender, cluster and employment type, to give the Committee a clear, evidence-based basis for that conversation. </a:t>
            </a:r>
            <a:endParaRPr lang="en-US" sz="1200" dirty="0">
              <a:solidFill>
                <a:schemeClr val="tx1">
                  <a:lumMod val="85000"/>
                  <a:lumOff val="15000"/>
                </a:schemeClr>
              </a:solidFill>
            </a:endParaRPr>
          </a:p>
        </p:txBody>
      </p:sp>
      <p:sp>
        <p:nvSpPr>
          <p:cNvPr id="7" name="Text 4"/>
          <p:cNvSpPr/>
          <p:nvPr/>
        </p:nvSpPr>
        <p:spPr>
          <a:xfrm>
            <a:off x="502920" y="2880360"/>
            <a:ext cx="5989320" cy="320040"/>
          </a:xfrm>
          <a:prstGeom prst="rect">
            <a:avLst/>
          </a:prstGeom>
          <a:noFill/>
          <a:ln/>
        </p:spPr>
        <p:txBody>
          <a:bodyPr wrap="square" lIns="0" tIns="0" rIns="0" bIns="0" rtlCol="0" anchor="ctr"/>
          <a:lstStyle/>
          <a:p>
            <a:pPr marL="0" indent="0">
              <a:buNone/>
            </a:pPr>
            <a:r>
              <a:rPr lang="en-US" sz="1200" b="1" dirty="0">
                <a:solidFill>
                  <a:schemeClr val="tx1">
                    <a:lumMod val="85000"/>
                    <a:lumOff val="15000"/>
                  </a:schemeClr>
                </a:solidFill>
                <a:ea typeface="Calibri" pitchFamily="34" charset="-122"/>
                <a:cs typeface="Calibri" pitchFamily="34" charset="-120"/>
              </a:rPr>
              <a:t>This update covers:</a:t>
            </a:r>
            <a:endParaRPr lang="en-US" sz="1200" dirty="0">
              <a:solidFill>
                <a:schemeClr val="tx1">
                  <a:lumMod val="85000"/>
                  <a:lumOff val="15000"/>
                </a:schemeClr>
              </a:solidFill>
            </a:endParaRPr>
          </a:p>
        </p:txBody>
      </p:sp>
      <p:sp>
        <p:nvSpPr>
          <p:cNvPr id="8" name="Text 5"/>
          <p:cNvSpPr/>
          <p:nvPr/>
        </p:nvSpPr>
        <p:spPr>
          <a:xfrm>
            <a:off x="502920" y="3227832"/>
            <a:ext cx="5989320" cy="1554480"/>
          </a:xfrm>
          <a:prstGeom prst="rect">
            <a:avLst/>
          </a:prstGeom>
          <a:noFill/>
          <a:ln/>
        </p:spPr>
        <p:txBody>
          <a:bodyPr wrap="square" lIns="0" tIns="0" rIns="0" bIns="0" rtlCol="0" anchor="ctr"/>
          <a:lstStyle/>
          <a:p>
            <a:pPr marL="342900" indent="-342900">
              <a:lnSpc>
                <a:spcPct val="125000"/>
              </a:lnSpc>
              <a:spcAft>
                <a:spcPts val="900"/>
              </a:spcAft>
              <a:buSzPct val="100000"/>
              <a:buChar char="▪"/>
            </a:pPr>
            <a:r>
              <a:rPr lang="en-US" sz="1200" dirty="0">
                <a:solidFill>
                  <a:schemeClr val="tx1">
                    <a:lumMod val="85000"/>
                    <a:lumOff val="15000"/>
                  </a:schemeClr>
                </a:solidFill>
                <a:ea typeface="Calibri" pitchFamily="34" charset="-122"/>
                <a:cs typeface="Calibri" pitchFamily="34" charset="-120"/>
              </a:rPr>
              <a:t>Headcount and gender representation trends, 2014–2018</a:t>
            </a:r>
            <a:endParaRPr lang="en-US" sz="1200" dirty="0">
              <a:solidFill>
                <a:schemeClr val="tx1">
                  <a:lumMod val="85000"/>
                  <a:lumOff val="15000"/>
                </a:schemeClr>
              </a:solidFill>
            </a:endParaRPr>
          </a:p>
          <a:p>
            <a:pPr marL="342900" indent="-342900">
              <a:lnSpc>
                <a:spcPct val="125000"/>
              </a:lnSpc>
              <a:spcAft>
                <a:spcPts val="900"/>
              </a:spcAft>
              <a:buSzPct val="100000"/>
              <a:buChar char="▪"/>
            </a:pPr>
            <a:r>
              <a:rPr lang="en-US" sz="1200" dirty="0">
                <a:solidFill>
                  <a:schemeClr val="tx1">
                    <a:lumMod val="85000"/>
                    <a:lumOff val="15000"/>
                  </a:schemeClr>
                </a:solidFill>
                <a:ea typeface="Calibri" pitchFamily="34" charset="-122"/>
                <a:cs typeface="Calibri" pitchFamily="34" charset="-120"/>
              </a:rPr>
              <a:t>Part-time employment rates, sector-wide and by cluster</a:t>
            </a:r>
            <a:endParaRPr lang="en-US" sz="1200" dirty="0">
              <a:solidFill>
                <a:schemeClr val="tx1">
                  <a:lumMod val="85000"/>
                  <a:lumOff val="15000"/>
                </a:schemeClr>
              </a:solidFill>
            </a:endParaRPr>
          </a:p>
          <a:p>
            <a:pPr marL="342900" indent="-342900">
              <a:lnSpc>
                <a:spcPct val="125000"/>
              </a:lnSpc>
              <a:spcAft>
                <a:spcPts val="900"/>
              </a:spcAft>
              <a:buSzPct val="100000"/>
              <a:buChar char="▪"/>
            </a:pPr>
            <a:r>
              <a:rPr lang="en-US" sz="1200" dirty="0">
                <a:solidFill>
                  <a:schemeClr val="tx1">
                    <a:lumMod val="85000"/>
                    <a:lumOff val="15000"/>
                  </a:schemeClr>
                </a:solidFill>
                <a:ea typeface="Calibri" pitchFamily="34" charset="-122"/>
                <a:cs typeface="Calibri" pitchFamily="34" charset="-120"/>
              </a:rPr>
              <a:t>The gender gap within part-time work, cluster by cluster</a:t>
            </a:r>
            <a:endParaRPr lang="en-US" sz="1200" dirty="0">
              <a:solidFill>
                <a:schemeClr val="tx1">
                  <a:lumMod val="85000"/>
                  <a:lumOff val="15000"/>
                </a:schemeClr>
              </a:solidFill>
            </a:endParaRPr>
          </a:p>
          <a:p>
            <a:pPr marL="342900" indent="-342900">
              <a:lnSpc>
                <a:spcPct val="125000"/>
              </a:lnSpc>
              <a:spcAft>
                <a:spcPts val="900"/>
              </a:spcAft>
              <a:buSzPct val="100000"/>
              <a:buChar char="▪"/>
            </a:pPr>
            <a:r>
              <a:rPr lang="en-US" sz="1200" dirty="0">
                <a:solidFill>
                  <a:schemeClr val="tx1">
                    <a:lumMod val="85000"/>
                    <a:lumOff val="15000"/>
                  </a:schemeClr>
                </a:solidFill>
                <a:ea typeface="Calibri" pitchFamily="34" charset="-122"/>
                <a:cs typeface="Calibri" pitchFamily="34" charset="-120"/>
              </a:rPr>
              <a:t>A straight-line projection of part-time representation to 2025</a:t>
            </a:r>
            <a:endParaRPr lang="en-US" sz="1200" dirty="0">
              <a:solidFill>
                <a:schemeClr val="tx1">
                  <a:lumMod val="85000"/>
                  <a:lumOff val="15000"/>
                </a:schemeClr>
              </a:solidFill>
            </a:endParaRPr>
          </a:p>
        </p:txBody>
      </p:sp>
      <p:sp>
        <p:nvSpPr>
          <p:cNvPr id="9" name="Shape 6"/>
          <p:cNvSpPr/>
          <p:nvPr/>
        </p:nvSpPr>
        <p:spPr>
          <a:xfrm>
            <a:off x="6790628" y="1563528"/>
            <a:ext cx="2359152" cy="1389888"/>
          </a:xfrm>
          <a:prstGeom prst="roundRect">
            <a:avLst>
              <a:gd name="adj" fmla="val 5921"/>
            </a:avLst>
          </a:prstGeom>
          <a:solidFill>
            <a:srgbClr val="F4F6FA"/>
          </a:solidFill>
          <a:ln/>
          <a:effectLst>
            <a:outerShdw blurRad="76200" dist="25400" dir="5400000" algn="bl" rotWithShape="0">
              <a:srgbClr val="B7C0D4">
                <a:alpha val="40000"/>
              </a:srgbClr>
            </a:outerShdw>
          </a:effectLst>
        </p:spPr>
      </p:sp>
      <p:sp>
        <p:nvSpPr>
          <p:cNvPr id="10" name="Shape 7"/>
          <p:cNvSpPr/>
          <p:nvPr/>
        </p:nvSpPr>
        <p:spPr>
          <a:xfrm>
            <a:off x="6973508" y="1746408"/>
            <a:ext cx="457200" cy="457200"/>
          </a:xfrm>
          <a:prstGeom prst="ellipse">
            <a:avLst/>
          </a:prstGeom>
          <a:solidFill>
            <a:srgbClr val="0B1E46"/>
          </a:solidFill>
          <a:ln/>
        </p:spPr>
      </p:sp>
      <p:pic>
        <p:nvPicPr>
          <p:cNvPr id="11" name="Image 1" descr="/home/claude/nsw_deck/icons/users.png"/>
          <p:cNvPicPr>
            <a:picLocks noChangeAspect="1"/>
          </p:cNvPicPr>
          <p:nvPr/>
        </p:nvPicPr>
        <p:blipFill>
          <a:blip r:embed="rId3"/>
          <a:stretch>
            <a:fillRect/>
          </a:stretch>
        </p:blipFill>
        <p:spPr>
          <a:xfrm>
            <a:off x="7087808" y="1860708"/>
            <a:ext cx="228600" cy="228600"/>
          </a:xfrm>
          <a:prstGeom prst="rect">
            <a:avLst/>
          </a:prstGeom>
        </p:spPr>
      </p:pic>
      <p:sp>
        <p:nvSpPr>
          <p:cNvPr id="12" name="Text 8"/>
          <p:cNvSpPr/>
          <p:nvPr/>
        </p:nvSpPr>
        <p:spPr>
          <a:xfrm>
            <a:off x="7567868" y="1654968"/>
            <a:ext cx="1444752" cy="502920"/>
          </a:xfrm>
          <a:prstGeom prst="rect">
            <a:avLst/>
          </a:prstGeom>
          <a:noFill/>
          <a:ln/>
        </p:spPr>
        <p:txBody>
          <a:bodyPr wrap="square" lIns="0" tIns="0" rIns="0" bIns="0" rtlCol="0" anchor="b"/>
          <a:lstStyle/>
          <a:p>
            <a:pPr marL="0" indent="0">
              <a:buNone/>
            </a:pPr>
            <a:r>
              <a:rPr lang="en-US" sz="2100" b="1">
                <a:solidFill>
                  <a:srgbClr val="0B1E46"/>
                </a:solidFill>
                <a:ea typeface="Cambria" pitchFamily="34" charset="-122"/>
                <a:cs typeface="Cambria" pitchFamily="34" charset="-120"/>
              </a:rPr>
              <a:t>1,891,836</a:t>
            </a:r>
            <a:endParaRPr lang="en-US" sz="2100" dirty="0">
              <a:solidFill>
                <a:srgbClr val="0B1E46"/>
              </a:solidFill>
            </a:endParaRPr>
          </a:p>
        </p:txBody>
      </p:sp>
      <p:sp>
        <p:nvSpPr>
          <p:cNvPr id="13" name="Text 9"/>
          <p:cNvSpPr/>
          <p:nvPr/>
        </p:nvSpPr>
        <p:spPr>
          <a:xfrm>
            <a:off x="6973508" y="2340768"/>
            <a:ext cx="2039112" cy="566928"/>
          </a:xfrm>
          <a:prstGeom prst="rect">
            <a:avLst/>
          </a:prstGeom>
          <a:noFill/>
          <a:ln/>
        </p:spPr>
        <p:txBody>
          <a:bodyPr wrap="square" lIns="0" tIns="0" rIns="0" bIns="0" rtlCol="0" anchor="ctr"/>
          <a:lstStyle/>
          <a:p>
            <a:pPr marL="0" indent="0">
              <a:lnSpc>
                <a:spcPct val="105000"/>
              </a:lnSpc>
              <a:buNone/>
            </a:pPr>
            <a:r>
              <a:rPr lang="en-US" sz="1000">
                <a:solidFill>
                  <a:srgbClr val="A6A6AE"/>
                </a:solidFill>
                <a:ea typeface="Calibri" pitchFamily="34" charset="-122"/>
                <a:cs typeface="Calibri" pitchFamily="34" charset="-120"/>
              </a:rPr>
              <a:t>Sum of headcounts across 2014–2018</a:t>
            </a:r>
            <a:endParaRPr lang="en-US" sz="1000" dirty="0">
              <a:solidFill>
                <a:srgbClr val="A6A6AE"/>
              </a:solidFill>
            </a:endParaRPr>
          </a:p>
        </p:txBody>
      </p:sp>
      <p:sp>
        <p:nvSpPr>
          <p:cNvPr id="14" name="Shape 10"/>
          <p:cNvSpPr/>
          <p:nvPr/>
        </p:nvSpPr>
        <p:spPr>
          <a:xfrm>
            <a:off x="9332660" y="1563528"/>
            <a:ext cx="2359152" cy="1389888"/>
          </a:xfrm>
          <a:prstGeom prst="roundRect">
            <a:avLst>
              <a:gd name="adj" fmla="val 5921"/>
            </a:avLst>
          </a:prstGeom>
          <a:solidFill>
            <a:srgbClr val="F4F6FA"/>
          </a:solidFill>
          <a:ln/>
          <a:effectLst>
            <a:outerShdw blurRad="76200" dist="25400" dir="5400000" algn="bl" rotWithShape="0">
              <a:srgbClr val="B7C0D4">
                <a:alpha val="40000"/>
              </a:srgbClr>
            </a:outerShdw>
          </a:effectLst>
        </p:spPr>
      </p:sp>
      <p:sp>
        <p:nvSpPr>
          <p:cNvPr id="15" name="Shape 11"/>
          <p:cNvSpPr/>
          <p:nvPr/>
        </p:nvSpPr>
        <p:spPr>
          <a:xfrm>
            <a:off x="9515540" y="1746408"/>
            <a:ext cx="457200" cy="457200"/>
          </a:xfrm>
          <a:prstGeom prst="ellipse">
            <a:avLst/>
          </a:prstGeom>
          <a:solidFill>
            <a:srgbClr val="0B1E46"/>
          </a:solidFill>
          <a:ln/>
        </p:spPr>
      </p:sp>
      <p:pic>
        <p:nvPicPr>
          <p:cNvPr id="16" name="Image 2" descr="/home/claude/nsw_deck/icons/layers.png"/>
          <p:cNvPicPr>
            <a:picLocks noChangeAspect="1"/>
          </p:cNvPicPr>
          <p:nvPr/>
        </p:nvPicPr>
        <p:blipFill>
          <a:blip r:embed="rId4"/>
          <a:stretch>
            <a:fillRect/>
          </a:stretch>
        </p:blipFill>
        <p:spPr>
          <a:xfrm>
            <a:off x="9629840" y="1860708"/>
            <a:ext cx="228600" cy="228600"/>
          </a:xfrm>
          <a:prstGeom prst="rect">
            <a:avLst/>
          </a:prstGeom>
        </p:spPr>
      </p:pic>
      <p:sp>
        <p:nvSpPr>
          <p:cNvPr id="17" name="Text 12"/>
          <p:cNvSpPr/>
          <p:nvPr/>
        </p:nvSpPr>
        <p:spPr>
          <a:xfrm>
            <a:off x="10109900" y="1654968"/>
            <a:ext cx="1444752" cy="502920"/>
          </a:xfrm>
          <a:prstGeom prst="rect">
            <a:avLst/>
          </a:prstGeom>
          <a:noFill/>
          <a:ln/>
        </p:spPr>
        <p:txBody>
          <a:bodyPr wrap="square" lIns="0" tIns="0" rIns="0" bIns="0" rtlCol="0" anchor="b"/>
          <a:lstStyle/>
          <a:p>
            <a:pPr marL="0" indent="0">
              <a:buNone/>
            </a:pPr>
            <a:r>
              <a:rPr lang="en-US" sz="2100" b="1" dirty="0">
                <a:solidFill>
                  <a:srgbClr val="0B1E46"/>
                </a:solidFill>
                <a:ea typeface="Cambria" pitchFamily="34" charset="-122"/>
                <a:cs typeface="Cambria" pitchFamily="34" charset="-120"/>
              </a:rPr>
              <a:t>10</a:t>
            </a:r>
            <a:endParaRPr lang="en-US" sz="2100" dirty="0">
              <a:solidFill>
                <a:srgbClr val="0B1E46"/>
              </a:solidFill>
            </a:endParaRPr>
          </a:p>
        </p:txBody>
      </p:sp>
      <p:sp>
        <p:nvSpPr>
          <p:cNvPr id="18" name="Text 13"/>
          <p:cNvSpPr/>
          <p:nvPr/>
        </p:nvSpPr>
        <p:spPr>
          <a:xfrm>
            <a:off x="9515540" y="2340768"/>
            <a:ext cx="1993392" cy="566928"/>
          </a:xfrm>
          <a:prstGeom prst="rect">
            <a:avLst/>
          </a:prstGeom>
          <a:noFill/>
          <a:ln/>
        </p:spPr>
        <p:txBody>
          <a:bodyPr wrap="square" lIns="0" tIns="0" rIns="0" bIns="0" rtlCol="0" anchor="ctr"/>
          <a:lstStyle/>
          <a:p>
            <a:pPr marL="0" indent="0">
              <a:lnSpc>
                <a:spcPct val="105000"/>
              </a:lnSpc>
              <a:buNone/>
            </a:pPr>
            <a:r>
              <a:rPr lang="en-US" sz="1000" dirty="0">
                <a:solidFill>
                  <a:srgbClr val="A6A6AE"/>
                </a:solidFill>
                <a:ea typeface="Calibri" pitchFamily="34" charset="-122"/>
                <a:cs typeface="Calibri" pitchFamily="34" charset="-120"/>
              </a:rPr>
              <a:t>Government clusters</a:t>
            </a:r>
            <a:endParaRPr lang="en-US" sz="1000" dirty="0">
              <a:solidFill>
                <a:srgbClr val="A6A6AE"/>
              </a:solidFill>
            </a:endParaRPr>
          </a:p>
        </p:txBody>
      </p:sp>
      <p:sp>
        <p:nvSpPr>
          <p:cNvPr id="19" name="Shape 14"/>
          <p:cNvSpPr/>
          <p:nvPr/>
        </p:nvSpPr>
        <p:spPr>
          <a:xfrm>
            <a:off x="6790628" y="3136296"/>
            <a:ext cx="2359152" cy="1389888"/>
          </a:xfrm>
          <a:prstGeom prst="roundRect">
            <a:avLst>
              <a:gd name="adj" fmla="val 5921"/>
            </a:avLst>
          </a:prstGeom>
          <a:solidFill>
            <a:srgbClr val="F4F6FA"/>
          </a:solidFill>
          <a:ln/>
          <a:effectLst>
            <a:outerShdw blurRad="76200" dist="25400" dir="5400000" algn="bl" rotWithShape="0">
              <a:srgbClr val="B7C0D4">
                <a:alpha val="40000"/>
              </a:srgbClr>
            </a:outerShdw>
          </a:effectLst>
        </p:spPr>
      </p:sp>
      <p:sp>
        <p:nvSpPr>
          <p:cNvPr id="20" name="Shape 15"/>
          <p:cNvSpPr/>
          <p:nvPr/>
        </p:nvSpPr>
        <p:spPr>
          <a:xfrm>
            <a:off x="6973508" y="3319176"/>
            <a:ext cx="457200" cy="457200"/>
          </a:xfrm>
          <a:prstGeom prst="ellipse">
            <a:avLst/>
          </a:prstGeom>
          <a:solidFill>
            <a:srgbClr val="0B1E46"/>
          </a:solidFill>
          <a:ln/>
        </p:spPr>
      </p:sp>
      <p:pic>
        <p:nvPicPr>
          <p:cNvPr id="21" name="Image 3"/>
          <p:cNvPicPr>
            <a:picLocks noChangeAspect="1"/>
          </p:cNvPicPr>
          <p:nvPr/>
        </p:nvPicPr>
        <p:blipFill>
          <a:blip r:embed="rId5"/>
          <a:srcRect/>
          <a:stretch/>
        </p:blipFill>
        <p:spPr>
          <a:xfrm>
            <a:off x="7087808" y="3434479"/>
            <a:ext cx="228600" cy="226594"/>
          </a:xfrm>
          <a:prstGeom prst="rect">
            <a:avLst/>
          </a:prstGeom>
        </p:spPr>
      </p:pic>
      <p:sp>
        <p:nvSpPr>
          <p:cNvPr id="22" name="Text 16"/>
          <p:cNvSpPr/>
          <p:nvPr/>
        </p:nvSpPr>
        <p:spPr>
          <a:xfrm>
            <a:off x="7567868" y="3227736"/>
            <a:ext cx="1444752" cy="502920"/>
          </a:xfrm>
          <a:prstGeom prst="rect">
            <a:avLst/>
          </a:prstGeom>
          <a:noFill/>
          <a:ln/>
        </p:spPr>
        <p:txBody>
          <a:bodyPr wrap="square" lIns="0" tIns="0" rIns="0" bIns="0" rtlCol="0" anchor="b"/>
          <a:lstStyle/>
          <a:p>
            <a:pPr marL="0" indent="0">
              <a:buNone/>
            </a:pPr>
            <a:r>
              <a:rPr lang="en-US" sz="2100" b="1" dirty="0">
                <a:solidFill>
                  <a:srgbClr val="0B1E46"/>
                </a:solidFill>
                <a:ea typeface="Cambria" pitchFamily="34" charset="-122"/>
                <a:cs typeface="Cambria" pitchFamily="34" charset="-120"/>
              </a:rPr>
              <a:t>92</a:t>
            </a:r>
            <a:endParaRPr lang="en-US" sz="2100" dirty="0">
              <a:solidFill>
                <a:srgbClr val="0B1E46"/>
              </a:solidFill>
            </a:endParaRPr>
          </a:p>
        </p:txBody>
      </p:sp>
      <p:sp>
        <p:nvSpPr>
          <p:cNvPr id="23" name="Text 17"/>
          <p:cNvSpPr/>
          <p:nvPr/>
        </p:nvSpPr>
        <p:spPr>
          <a:xfrm>
            <a:off x="6973508" y="3913536"/>
            <a:ext cx="1993392" cy="566928"/>
          </a:xfrm>
          <a:prstGeom prst="rect">
            <a:avLst/>
          </a:prstGeom>
          <a:noFill/>
          <a:ln/>
        </p:spPr>
        <p:txBody>
          <a:bodyPr wrap="square" lIns="0" tIns="0" rIns="0" bIns="0" rtlCol="0" anchor="ctr"/>
          <a:lstStyle/>
          <a:p>
            <a:pPr marL="0" indent="0">
              <a:lnSpc>
                <a:spcPct val="105000"/>
              </a:lnSpc>
              <a:buNone/>
            </a:pPr>
            <a:r>
              <a:rPr lang="en-US" sz="1000" dirty="0">
                <a:solidFill>
                  <a:srgbClr val="A6A6AE"/>
                </a:solidFill>
                <a:ea typeface="Calibri" pitchFamily="34" charset="-122"/>
                <a:cs typeface="Calibri" pitchFamily="34" charset="-120"/>
              </a:rPr>
              <a:t>Individual agencies</a:t>
            </a:r>
            <a:endParaRPr lang="en-US" sz="1000" dirty="0">
              <a:solidFill>
                <a:srgbClr val="A6A6AE"/>
              </a:solidFill>
            </a:endParaRPr>
          </a:p>
        </p:txBody>
      </p:sp>
      <p:sp>
        <p:nvSpPr>
          <p:cNvPr id="24" name="Shape 18"/>
          <p:cNvSpPr/>
          <p:nvPr/>
        </p:nvSpPr>
        <p:spPr>
          <a:xfrm>
            <a:off x="9332660" y="3136296"/>
            <a:ext cx="2359152" cy="1389888"/>
          </a:xfrm>
          <a:prstGeom prst="roundRect">
            <a:avLst>
              <a:gd name="adj" fmla="val 5921"/>
            </a:avLst>
          </a:prstGeom>
          <a:solidFill>
            <a:srgbClr val="F4F6FA"/>
          </a:solidFill>
          <a:ln/>
          <a:effectLst>
            <a:outerShdw blurRad="76200" dist="25400" dir="5400000" algn="bl" rotWithShape="0">
              <a:srgbClr val="B7C0D4">
                <a:alpha val="40000"/>
              </a:srgbClr>
            </a:outerShdw>
          </a:effectLst>
        </p:spPr>
      </p:sp>
      <p:sp>
        <p:nvSpPr>
          <p:cNvPr id="25" name="Shape 19"/>
          <p:cNvSpPr/>
          <p:nvPr/>
        </p:nvSpPr>
        <p:spPr>
          <a:xfrm>
            <a:off x="9515540" y="3319176"/>
            <a:ext cx="457200" cy="457200"/>
          </a:xfrm>
          <a:prstGeom prst="ellipse">
            <a:avLst/>
          </a:prstGeom>
          <a:solidFill>
            <a:srgbClr val="0B1E46"/>
          </a:solidFill>
          <a:ln/>
        </p:spPr>
      </p:sp>
      <p:pic>
        <p:nvPicPr>
          <p:cNvPr id="26" name="Image 4" descr="/home/claude/nsw_deck/icons/calendar.png"/>
          <p:cNvPicPr>
            <a:picLocks noChangeAspect="1"/>
          </p:cNvPicPr>
          <p:nvPr/>
        </p:nvPicPr>
        <p:blipFill>
          <a:blip r:embed="rId6"/>
          <a:stretch>
            <a:fillRect/>
          </a:stretch>
        </p:blipFill>
        <p:spPr>
          <a:xfrm>
            <a:off x="9629840" y="3433476"/>
            <a:ext cx="228600" cy="228600"/>
          </a:xfrm>
          <a:prstGeom prst="rect">
            <a:avLst/>
          </a:prstGeom>
        </p:spPr>
      </p:pic>
      <p:sp>
        <p:nvSpPr>
          <p:cNvPr id="27" name="Text 20"/>
          <p:cNvSpPr/>
          <p:nvPr/>
        </p:nvSpPr>
        <p:spPr>
          <a:xfrm>
            <a:off x="10109900" y="3227736"/>
            <a:ext cx="1444752" cy="502920"/>
          </a:xfrm>
          <a:prstGeom prst="rect">
            <a:avLst/>
          </a:prstGeom>
          <a:noFill/>
          <a:ln/>
        </p:spPr>
        <p:txBody>
          <a:bodyPr wrap="square" lIns="0" tIns="0" rIns="0" bIns="0" rtlCol="0" anchor="b"/>
          <a:lstStyle/>
          <a:p>
            <a:pPr marL="0" indent="0">
              <a:buNone/>
            </a:pPr>
            <a:r>
              <a:rPr lang="en-US" sz="2100" b="1" dirty="0">
                <a:solidFill>
                  <a:srgbClr val="0B1E46"/>
                </a:solidFill>
                <a:ea typeface="Cambria" pitchFamily="34" charset="-122"/>
                <a:cs typeface="Cambria" pitchFamily="34" charset="-120"/>
              </a:rPr>
              <a:t>2014–18</a:t>
            </a:r>
            <a:endParaRPr lang="en-US" sz="2100" dirty="0">
              <a:solidFill>
                <a:srgbClr val="0B1E46"/>
              </a:solidFill>
            </a:endParaRPr>
          </a:p>
        </p:txBody>
      </p:sp>
      <p:sp>
        <p:nvSpPr>
          <p:cNvPr id="28" name="Text 21"/>
          <p:cNvSpPr/>
          <p:nvPr/>
        </p:nvSpPr>
        <p:spPr>
          <a:xfrm>
            <a:off x="9515540" y="3913536"/>
            <a:ext cx="1993392" cy="566928"/>
          </a:xfrm>
          <a:prstGeom prst="rect">
            <a:avLst/>
          </a:prstGeom>
          <a:noFill/>
          <a:ln/>
        </p:spPr>
        <p:txBody>
          <a:bodyPr wrap="square" lIns="0" tIns="0" rIns="0" bIns="0" rtlCol="0" anchor="ctr"/>
          <a:lstStyle/>
          <a:p>
            <a:pPr marL="0" indent="0">
              <a:lnSpc>
                <a:spcPct val="105000"/>
              </a:lnSpc>
              <a:buNone/>
            </a:pPr>
            <a:r>
              <a:rPr lang="en-US" sz="1000" dirty="0">
                <a:solidFill>
                  <a:srgbClr val="A6A6AE"/>
                </a:solidFill>
                <a:ea typeface="Calibri" pitchFamily="34" charset="-122"/>
                <a:cs typeface="Calibri" pitchFamily="34" charset="-120"/>
              </a:rPr>
              <a:t>Years of workforce data analysed</a:t>
            </a:r>
            <a:endParaRPr lang="en-US" sz="1000" dirty="0">
              <a:solidFill>
                <a:srgbClr val="A6A6AE"/>
              </a:solidFill>
            </a:endParaRPr>
          </a:p>
        </p:txBody>
      </p:sp>
      <p:sp>
        <p:nvSpPr>
          <p:cNvPr id="29" name="Shape 22"/>
          <p:cNvSpPr/>
          <p:nvPr/>
        </p:nvSpPr>
        <p:spPr>
          <a:xfrm>
            <a:off x="502920" y="5253228"/>
            <a:ext cx="11185855" cy="1024128"/>
          </a:xfrm>
          <a:prstGeom prst="roundRect">
            <a:avLst>
              <a:gd name="adj" fmla="val 6250"/>
            </a:avLst>
          </a:prstGeom>
          <a:solidFill>
            <a:srgbClr val="0B1E46"/>
          </a:solidFill>
          <a:ln>
            <a:solidFill>
              <a:srgbClr val="0B1E46"/>
            </a:solidFill>
          </a:ln>
        </p:spPr>
      </p:sp>
      <p:sp>
        <p:nvSpPr>
          <p:cNvPr id="30" name="Text 23"/>
          <p:cNvSpPr/>
          <p:nvPr/>
        </p:nvSpPr>
        <p:spPr>
          <a:xfrm>
            <a:off x="777240" y="5381244"/>
            <a:ext cx="2476424" cy="274320"/>
          </a:xfrm>
          <a:prstGeom prst="rect">
            <a:avLst/>
          </a:prstGeom>
          <a:noFill/>
          <a:ln/>
        </p:spPr>
        <p:txBody>
          <a:bodyPr wrap="square" lIns="0" tIns="0" rIns="0" bIns="0" rtlCol="0" anchor="ctr"/>
          <a:lstStyle/>
          <a:p>
            <a:pPr marL="0" indent="0">
              <a:buNone/>
            </a:pPr>
            <a:r>
              <a:rPr lang="en-US" sz="1200" b="1">
                <a:solidFill>
                  <a:schemeClr val="bg1"/>
                </a:solidFill>
                <a:ea typeface="Cambria" pitchFamily="34" charset="-122"/>
                <a:cs typeface="Cambria" pitchFamily="34" charset="-120"/>
              </a:rPr>
              <a:t>Sector / Public Sector</a:t>
            </a:r>
            <a:endParaRPr lang="en-US" sz="1200" dirty="0">
              <a:solidFill>
                <a:schemeClr val="bg1"/>
              </a:solidFill>
            </a:endParaRPr>
          </a:p>
        </p:txBody>
      </p:sp>
      <p:sp>
        <p:nvSpPr>
          <p:cNvPr id="31" name="Text 24"/>
          <p:cNvSpPr/>
          <p:nvPr/>
        </p:nvSpPr>
        <p:spPr>
          <a:xfrm>
            <a:off x="777240" y="5682996"/>
            <a:ext cx="2430704" cy="521208"/>
          </a:xfrm>
          <a:prstGeom prst="rect">
            <a:avLst/>
          </a:prstGeom>
          <a:noFill/>
          <a:ln/>
        </p:spPr>
        <p:txBody>
          <a:bodyPr wrap="square" lIns="0" tIns="0" rIns="0" bIns="0" rtlCol="0" anchor="ctr"/>
          <a:lstStyle/>
          <a:p>
            <a:pPr marL="0" indent="0">
              <a:lnSpc>
                <a:spcPct val="112000"/>
              </a:lnSpc>
              <a:buNone/>
            </a:pPr>
            <a:r>
              <a:rPr lang="en-US" sz="900">
                <a:solidFill>
                  <a:schemeClr val="bg1">
                    <a:lumMod val="75000"/>
                  </a:schemeClr>
                </a:solidFill>
                <a:ea typeface="Calibri" pitchFamily="34" charset="-122"/>
                <a:cs typeface="Calibri" pitchFamily="34" charset="-120"/>
              </a:rPr>
              <a:t>All agencies and people who work directly for the NSW State Government</a:t>
            </a:r>
            <a:endParaRPr lang="en-US" sz="900" dirty="0">
              <a:solidFill>
                <a:schemeClr val="bg1">
                  <a:lumMod val="75000"/>
                </a:schemeClr>
              </a:solidFill>
            </a:endParaRPr>
          </a:p>
        </p:txBody>
      </p:sp>
      <p:sp>
        <p:nvSpPr>
          <p:cNvPr id="32" name="Text 25"/>
          <p:cNvSpPr/>
          <p:nvPr/>
        </p:nvSpPr>
        <p:spPr>
          <a:xfrm>
            <a:off x="3436544" y="5381244"/>
            <a:ext cx="2476424" cy="274320"/>
          </a:xfrm>
          <a:prstGeom prst="rect">
            <a:avLst/>
          </a:prstGeom>
          <a:noFill/>
          <a:ln/>
        </p:spPr>
        <p:txBody>
          <a:bodyPr wrap="square" lIns="0" tIns="0" rIns="0" bIns="0" rtlCol="0" anchor="ctr"/>
          <a:lstStyle/>
          <a:p>
            <a:pPr marL="0" indent="0">
              <a:buNone/>
            </a:pPr>
            <a:r>
              <a:rPr lang="en-US" sz="1200" b="1" dirty="0">
                <a:solidFill>
                  <a:schemeClr val="bg1"/>
                </a:solidFill>
                <a:ea typeface="Cambria" pitchFamily="34" charset="-122"/>
                <a:cs typeface="Cambria" pitchFamily="34" charset="-120"/>
              </a:rPr>
              <a:t>Cluster</a:t>
            </a:r>
            <a:endParaRPr lang="en-US" sz="1200" dirty="0">
              <a:solidFill>
                <a:schemeClr val="bg1"/>
              </a:solidFill>
            </a:endParaRPr>
          </a:p>
        </p:txBody>
      </p:sp>
      <p:sp>
        <p:nvSpPr>
          <p:cNvPr id="33" name="Text 26"/>
          <p:cNvSpPr/>
          <p:nvPr/>
        </p:nvSpPr>
        <p:spPr>
          <a:xfrm>
            <a:off x="3436544" y="5682996"/>
            <a:ext cx="2430704" cy="521208"/>
          </a:xfrm>
          <a:prstGeom prst="rect">
            <a:avLst/>
          </a:prstGeom>
          <a:noFill/>
          <a:ln/>
        </p:spPr>
        <p:txBody>
          <a:bodyPr wrap="square" lIns="0" tIns="0" rIns="0" bIns="0" rtlCol="0" anchor="ctr"/>
          <a:lstStyle/>
          <a:p>
            <a:pPr marL="0" indent="0">
              <a:lnSpc>
                <a:spcPct val="112000"/>
              </a:lnSpc>
              <a:buNone/>
            </a:pPr>
            <a:r>
              <a:rPr lang="en-US" sz="900">
                <a:solidFill>
                  <a:schemeClr val="bg1">
                    <a:lumMod val="75000"/>
                  </a:schemeClr>
                </a:solidFill>
                <a:ea typeface="Calibri" pitchFamily="34" charset="-122"/>
                <a:cs typeface="Calibri" pitchFamily="34" charset="-120"/>
              </a:rPr>
              <a:t>A group of agencies that share a common function and report to a Secretary</a:t>
            </a:r>
            <a:endParaRPr lang="en-US" sz="900" dirty="0">
              <a:solidFill>
                <a:schemeClr val="bg1">
                  <a:lumMod val="75000"/>
                </a:schemeClr>
              </a:solidFill>
              <a:ea typeface="Calibri" pitchFamily="34" charset="-122"/>
              <a:cs typeface="Calibri" pitchFamily="34" charset="-120"/>
            </a:endParaRPr>
          </a:p>
        </p:txBody>
      </p:sp>
      <p:sp>
        <p:nvSpPr>
          <p:cNvPr id="34" name="Text 27"/>
          <p:cNvSpPr/>
          <p:nvPr/>
        </p:nvSpPr>
        <p:spPr>
          <a:xfrm>
            <a:off x="6095848" y="5381244"/>
            <a:ext cx="2476424" cy="274320"/>
          </a:xfrm>
          <a:prstGeom prst="rect">
            <a:avLst/>
          </a:prstGeom>
          <a:noFill/>
          <a:ln/>
        </p:spPr>
        <p:txBody>
          <a:bodyPr wrap="square" lIns="0" tIns="0" rIns="0" bIns="0" rtlCol="0" anchor="ctr"/>
          <a:lstStyle/>
          <a:p>
            <a:pPr marL="0" indent="0">
              <a:buNone/>
            </a:pPr>
            <a:r>
              <a:rPr lang="en-US" sz="1200" b="1" dirty="0">
                <a:solidFill>
                  <a:schemeClr val="bg1"/>
                </a:solidFill>
                <a:ea typeface="Cambria" pitchFamily="34" charset="-122"/>
                <a:cs typeface="Cambria" pitchFamily="34" charset="-120"/>
              </a:rPr>
              <a:t>Headcount</a:t>
            </a:r>
            <a:endParaRPr lang="en-US" sz="1200" dirty="0">
              <a:solidFill>
                <a:schemeClr val="bg1"/>
              </a:solidFill>
            </a:endParaRPr>
          </a:p>
        </p:txBody>
      </p:sp>
      <p:sp>
        <p:nvSpPr>
          <p:cNvPr id="35" name="Text 28"/>
          <p:cNvSpPr/>
          <p:nvPr/>
        </p:nvSpPr>
        <p:spPr>
          <a:xfrm>
            <a:off x="6095848" y="5682996"/>
            <a:ext cx="2430704" cy="521208"/>
          </a:xfrm>
          <a:prstGeom prst="rect">
            <a:avLst/>
          </a:prstGeom>
          <a:noFill/>
          <a:ln/>
        </p:spPr>
        <p:txBody>
          <a:bodyPr wrap="square" lIns="0" tIns="0" rIns="0" bIns="0" rtlCol="0" anchor="ctr"/>
          <a:lstStyle/>
          <a:p>
            <a:pPr marL="0" indent="0">
              <a:lnSpc>
                <a:spcPct val="112000"/>
              </a:lnSpc>
              <a:buNone/>
            </a:pPr>
            <a:r>
              <a:rPr lang="en-US" sz="900" dirty="0">
                <a:solidFill>
                  <a:schemeClr val="bg1">
                    <a:lumMod val="75000"/>
                  </a:schemeClr>
                </a:solidFill>
                <a:ea typeface="Calibri" pitchFamily="34" charset="-122"/>
                <a:cs typeface="Calibri" pitchFamily="34" charset="-120"/>
              </a:rPr>
              <a:t>The number of employees, counted as individual people.</a:t>
            </a:r>
            <a:endParaRPr lang="en-US" sz="900" dirty="0">
              <a:solidFill>
                <a:schemeClr val="bg1">
                  <a:lumMod val="75000"/>
                </a:schemeClr>
              </a:solidFill>
            </a:endParaRPr>
          </a:p>
        </p:txBody>
      </p:sp>
      <p:sp>
        <p:nvSpPr>
          <p:cNvPr id="36" name="Text 29"/>
          <p:cNvSpPr/>
          <p:nvPr/>
        </p:nvSpPr>
        <p:spPr>
          <a:xfrm>
            <a:off x="8755151" y="5381244"/>
            <a:ext cx="2476424" cy="274320"/>
          </a:xfrm>
          <a:prstGeom prst="rect">
            <a:avLst/>
          </a:prstGeom>
          <a:noFill/>
          <a:ln/>
        </p:spPr>
        <p:txBody>
          <a:bodyPr wrap="square" lIns="0" tIns="0" rIns="0" bIns="0" rtlCol="0" anchor="ctr"/>
          <a:lstStyle/>
          <a:p>
            <a:pPr marL="0" indent="0">
              <a:buNone/>
            </a:pPr>
            <a:r>
              <a:rPr lang="en-US" sz="1200" b="1" dirty="0">
                <a:solidFill>
                  <a:schemeClr val="bg1"/>
                </a:solidFill>
                <a:ea typeface="Cambria" pitchFamily="34" charset="-122"/>
                <a:cs typeface="Cambria" pitchFamily="34" charset="-120"/>
              </a:rPr>
              <a:t>pp</a:t>
            </a:r>
            <a:endParaRPr lang="en-US" sz="1200" dirty="0">
              <a:solidFill>
                <a:schemeClr val="bg1"/>
              </a:solidFill>
            </a:endParaRPr>
          </a:p>
        </p:txBody>
      </p:sp>
      <p:sp>
        <p:nvSpPr>
          <p:cNvPr id="37" name="Text 30"/>
          <p:cNvSpPr/>
          <p:nvPr/>
        </p:nvSpPr>
        <p:spPr>
          <a:xfrm>
            <a:off x="8755151" y="5682996"/>
            <a:ext cx="2430704" cy="521208"/>
          </a:xfrm>
          <a:prstGeom prst="rect">
            <a:avLst/>
          </a:prstGeom>
          <a:noFill/>
          <a:ln/>
        </p:spPr>
        <p:txBody>
          <a:bodyPr wrap="square" lIns="0" tIns="0" rIns="0" bIns="0" rtlCol="0" anchor="ctr"/>
          <a:lstStyle/>
          <a:p>
            <a:pPr marL="0" indent="0">
              <a:lnSpc>
                <a:spcPct val="112000"/>
              </a:lnSpc>
              <a:buNone/>
            </a:pPr>
            <a:r>
              <a:rPr lang="en-US" sz="900" dirty="0">
                <a:solidFill>
                  <a:schemeClr val="bg1">
                    <a:lumMod val="75000"/>
                  </a:schemeClr>
                </a:solidFill>
                <a:ea typeface="Calibri" pitchFamily="34" charset="-122"/>
                <a:cs typeface="Calibri" pitchFamily="34" charset="-120"/>
              </a:rPr>
              <a:t>Percentage point — the unit used to describe change in a %.</a:t>
            </a:r>
            <a:endParaRPr lang="en-US" sz="900" dirty="0">
              <a:solidFill>
                <a:schemeClr val="bg1">
                  <a:lumMod val="75000"/>
                </a:schemeClr>
              </a:solidFill>
            </a:endParaRPr>
          </a:p>
        </p:txBody>
      </p:sp>
      <p:sp>
        <p:nvSpPr>
          <p:cNvPr id="39" name="Text 32"/>
          <p:cNvSpPr/>
          <p:nvPr/>
        </p:nvSpPr>
        <p:spPr>
          <a:xfrm>
            <a:off x="11247120" y="6528816"/>
            <a:ext cx="411480" cy="256032"/>
          </a:xfrm>
          <a:prstGeom prst="rect">
            <a:avLst/>
          </a:prstGeom>
          <a:noFill/>
          <a:ln/>
        </p:spPr>
        <p:txBody>
          <a:bodyPr wrap="square" lIns="0" tIns="0" rIns="0" bIns="0" rtlCol="0" anchor="ctr"/>
          <a:lstStyle/>
          <a:p>
            <a:pPr marL="0" indent="0" algn="r">
              <a:buNone/>
            </a:pPr>
            <a:r>
              <a:rPr lang="en-US" sz="850" dirty="0">
                <a:solidFill>
                  <a:srgbClr val="667085"/>
                </a:solidFill>
                <a:ea typeface="Calibri" pitchFamily="34" charset="-122"/>
                <a:cs typeface="Calibri" pitchFamily="34" charset="-120"/>
              </a:rPr>
              <a:t>2</a:t>
            </a:r>
            <a:endParaRPr lang="en-US" sz="850" dirty="0"/>
          </a:p>
        </p:txBody>
      </p:sp>
      <p:pic>
        <p:nvPicPr>
          <p:cNvPr id="41" name="Picture 40">
            <a:extLst>
              <a:ext uri="{FF2B5EF4-FFF2-40B4-BE49-F238E27FC236}">
                <a16:creationId xmlns:a16="http://schemas.microsoft.com/office/drawing/2014/main" id="{5DE71C97-2FDE-E0AA-C45B-A11D0461DDF1}"/>
              </a:ext>
            </a:extLst>
          </p:cNvPr>
          <p:cNvPicPr>
            <a:picLocks noChangeAspect="1"/>
          </p:cNvPicPr>
          <p:nvPr/>
        </p:nvPicPr>
        <p:blipFill>
          <a:blip r:embed="rId7"/>
          <a:stretch>
            <a:fillRect/>
          </a:stretch>
        </p:blipFill>
        <p:spPr>
          <a:xfrm>
            <a:off x="10060685" y="1"/>
            <a:ext cx="2144486" cy="685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65760"/>
            <a:ext cx="9601200" cy="274320"/>
          </a:xfrm>
          <a:prstGeom prst="rect">
            <a:avLst/>
          </a:prstGeom>
          <a:noFill/>
          <a:ln/>
        </p:spPr>
        <p:txBody>
          <a:bodyPr wrap="square" lIns="0" tIns="0" rIns="0" bIns="0" rtlCol="0" anchor="ctr"/>
          <a:lstStyle/>
          <a:p>
            <a:pPr marL="0" indent="0">
              <a:buNone/>
            </a:pPr>
            <a:r>
              <a:rPr lang="en-US" sz="1200" b="1" kern="0" spc="200" dirty="0">
                <a:solidFill>
                  <a:srgbClr val="E3153D"/>
                </a:solidFill>
                <a:ea typeface="Calibri" pitchFamily="34" charset="-122"/>
                <a:cs typeface="Calibri" pitchFamily="34" charset="-120"/>
              </a:rPr>
              <a:t>GENERAL WORKFORCE TRENDS</a:t>
            </a:r>
            <a:endParaRPr lang="en-US" sz="1200" dirty="0">
              <a:solidFill>
                <a:srgbClr val="E3153D"/>
              </a:solidFill>
            </a:endParaRPr>
          </a:p>
        </p:txBody>
      </p:sp>
      <p:sp>
        <p:nvSpPr>
          <p:cNvPr id="3" name="Text 1"/>
          <p:cNvSpPr/>
          <p:nvPr/>
        </p:nvSpPr>
        <p:spPr>
          <a:xfrm>
            <a:off x="502920" y="621792"/>
            <a:ext cx="9966960" cy="685800"/>
          </a:xfrm>
          <a:prstGeom prst="rect">
            <a:avLst/>
          </a:prstGeom>
          <a:noFill/>
          <a:ln/>
        </p:spPr>
        <p:txBody>
          <a:bodyPr wrap="square" lIns="0" tIns="0" rIns="0" bIns="0" rtlCol="0" anchor="t"/>
          <a:lstStyle/>
          <a:p>
            <a:r>
              <a:rPr lang="en-US" sz="2400" b="1">
                <a:solidFill>
                  <a:srgbClr val="143980"/>
                </a:solidFill>
                <a:ea typeface="Cambria" pitchFamily="34" charset="-122"/>
                <a:cs typeface="Cambria" pitchFamily="34" charset="-120"/>
              </a:rPr>
              <a:t>Sector Headcount Fell – Mainly Due to a Drop in Male Employees</a:t>
            </a:r>
            <a:r>
              <a:rPr lang="en-US" sz="2400">
                <a:solidFill>
                  <a:srgbClr val="143980"/>
                </a:solidFill>
              </a:rPr>
              <a:t> </a:t>
            </a:r>
            <a:r>
              <a:rPr lang="en-US" sz="2400" b="1">
                <a:solidFill>
                  <a:srgbClr val="143980"/>
                </a:solidFill>
                <a:ea typeface="Cambria" pitchFamily="34" charset="-122"/>
                <a:cs typeface="Cambria" pitchFamily="34" charset="-120"/>
              </a:rPr>
              <a:t> </a:t>
            </a:r>
            <a:endParaRPr lang="en-US" sz="2400" dirty="0">
              <a:solidFill>
                <a:srgbClr val="143980"/>
              </a:solidFill>
            </a:endParaRPr>
          </a:p>
        </p:txBody>
      </p:sp>
      <p:pic>
        <p:nvPicPr>
          <p:cNvPr id="5" name="Image 0" descr="/home/claude/nsw_deck/icons/trendingUp.png"/>
          <p:cNvPicPr>
            <a:picLocks noChangeAspect="1"/>
          </p:cNvPicPr>
          <p:nvPr/>
        </p:nvPicPr>
        <p:blipFill>
          <a:blip r:embed="rId3"/>
          <a:stretch>
            <a:fillRect/>
          </a:stretch>
        </p:blipFill>
        <p:spPr>
          <a:xfrm>
            <a:off x="11013948" y="580644"/>
            <a:ext cx="402336" cy="402336"/>
          </a:xfrm>
          <a:prstGeom prst="rect">
            <a:avLst/>
          </a:prstGeom>
        </p:spPr>
      </p:pic>
      <p:graphicFrame>
        <p:nvGraphicFramePr>
          <p:cNvPr id="6" name="Chart 0"/>
          <p:cNvGraphicFramePr/>
          <p:nvPr>
            <p:extLst>
              <p:ext uri="{D42A27DB-BD31-4B8C-83A1-F6EECF244321}">
                <p14:modId xmlns:p14="http://schemas.microsoft.com/office/powerpoint/2010/main" val="3319409727"/>
              </p:ext>
            </p:extLst>
          </p:nvPr>
        </p:nvGraphicFramePr>
        <p:xfrm>
          <a:off x="502919" y="1357884"/>
          <a:ext cx="8316985" cy="452628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8965707" y="1357884"/>
            <a:ext cx="2706317" cy="1348740"/>
          </a:xfrm>
          <a:prstGeom prst="roundRect">
            <a:avLst>
              <a:gd name="adj" fmla="val 6000"/>
            </a:avLst>
          </a:prstGeom>
          <a:solidFill>
            <a:srgbClr val="F4F6FA"/>
          </a:solidFill>
          <a:ln/>
          <a:effectLst>
            <a:outerShdw blurRad="76200" dist="25400" dir="5400000" algn="bl" rotWithShape="0">
              <a:srgbClr val="B7C0D4">
                <a:alpha val="40000"/>
              </a:srgbClr>
            </a:outerShdw>
          </a:effectLst>
        </p:spPr>
      </p:sp>
      <p:sp>
        <p:nvSpPr>
          <p:cNvPr id="8" name="Text 4"/>
          <p:cNvSpPr/>
          <p:nvPr/>
        </p:nvSpPr>
        <p:spPr>
          <a:xfrm>
            <a:off x="9137819" y="1778794"/>
            <a:ext cx="2362089" cy="324612"/>
          </a:xfrm>
          <a:prstGeom prst="rect">
            <a:avLst/>
          </a:prstGeom>
          <a:noFill/>
          <a:ln/>
        </p:spPr>
        <p:txBody>
          <a:bodyPr wrap="square" lIns="0" tIns="0" rIns="0" bIns="0" rtlCol="0" anchor="b"/>
          <a:lstStyle/>
          <a:p>
            <a:pPr marL="0" indent="0">
              <a:buNone/>
            </a:pPr>
            <a:r>
              <a:rPr lang="en-US" sz="2400" b="1">
                <a:solidFill>
                  <a:schemeClr val="accent6"/>
                </a:solidFill>
                <a:ea typeface="Cambria" pitchFamily="34" charset="-122"/>
                <a:cs typeface="Cambria" pitchFamily="34" charset="-120"/>
              </a:rPr>
              <a:t>▲ +0.52</a:t>
            </a:r>
            <a:r>
              <a:rPr lang="en-US" sz="2400" b="1" dirty="0">
                <a:solidFill>
                  <a:schemeClr val="accent6"/>
                </a:solidFill>
                <a:ea typeface="Cambria" pitchFamily="34" charset="-122"/>
                <a:cs typeface="Cambria" pitchFamily="34" charset="-120"/>
              </a:rPr>
              <a:t>%</a:t>
            </a:r>
            <a:endParaRPr lang="en-US" sz="2400" dirty="0">
              <a:solidFill>
                <a:schemeClr val="accent6"/>
              </a:solidFill>
            </a:endParaRPr>
          </a:p>
        </p:txBody>
      </p:sp>
      <p:sp>
        <p:nvSpPr>
          <p:cNvPr id="9" name="Text 5"/>
          <p:cNvSpPr/>
          <p:nvPr/>
        </p:nvSpPr>
        <p:spPr>
          <a:xfrm>
            <a:off x="9164132" y="2202847"/>
            <a:ext cx="2362089" cy="162306"/>
          </a:xfrm>
          <a:prstGeom prst="rect">
            <a:avLst/>
          </a:prstGeom>
          <a:noFill/>
          <a:ln/>
        </p:spPr>
        <p:txBody>
          <a:bodyPr wrap="square" lIns="0" tIns="0" rIns="0" bIns="0" rtlCol="0" anchor="t"/>
          <a:lstStyle/>
          <a:p>
            <a:pPr marL="0" indent="0">
              <a:lnSpc>
                <a:spcPct val="105000"/>
              </a:lnSpc>
              <a:buNone/>
            </a:pPr>
            <a:r>
              <a:rPr lang="en-US" sz="1000" dirty="0">
                <a:solidFill>
                  <a:srgbClr val="A6A6AE"/>
                </a:solidFill>
                <a:ea typeface="Calibri" pitchFamily="34" charset="-122"/>
                <a:cs typeface="Calibri" pitchFamily="34" charset="-120"/>
              </a:rPr>
              <a:t>Female headcount growth, 2014–2018</a:t>
            </a:r>
            <a:endParaRPr lang="en-US" sz="1000" dirty="0">
              <a:solidFill>
                <a:srgbClr val="A6A6AE"/>
              </a:solidFill>
            </a:endParaRPr>
          </a:p>
        </p:txBody>
      </p:sp>
      <p:sp>
        <p:nvSpPr>
          <p:cNvPr id="10" name="Shape 6"/>
          <p:cNvSpPr/>
          <p:nvPr/>
        </p:nvSpPr>
        <p:spPr>
          <a:xfrm>
            <a:off x="8965707" y="2948940"/>
            <a:ext cx="2706317" cy="1329309"/>
          </a:xfrm>
          <a:prstGeom prst="roundRect">
            <a:avLst>
              <a:gd name="adj" fmla="val 6000"/>
            </a:avLst>
          </a:prstGeom>
          <a:solidFill>
            <a:srgbClr val="F4F6FA"/>
          </a:solidFill>
          <a:ln/>
          <a:effectLst>
            <a:outerShdw blurRad="76200" dist="25400" dir="5400000" algn="bl" rotWithShape="0">
              <a:srgbClr val="B7C0D4">
                <a:alpha val="40000"/>
              </a:srgbClr>
            </a:outerShdw>
          </a:effectLst>
        </p:spPr>
      </p:sp>
      <p:sp>
        <p:nvSpPr>
          <p:cNvPr id="11" name="Text 7"/>
          <p:cNvSpPr/>
          <p:nvPr/>
        </p:nvSpPr>
        <p:spPr>
          <a:xfrm>
            <a:off x="9137819" y="3345049"/>
            <a:ext cx="2362089" cy="335922"/>
          </a:xfrm>
          <a:prstGeom prst="rect">
            <a:avLst/>
          </a:prstGeom>
          <a:noFill/>
          <a:ln/>
        </p:spPr>
        <p:txBody>
          <a:bodyPr wrap="square" lIns="0" tIns="0" rIns="0" bIns="0" rtlCol="0" anchor="b"/>
          <a:lstStyle/>
          <a:p>
            <a:pPr marL="0" indent="0">
              <a:buNone/>
            </a:pPr>
            <a:r>
              <a:rPr lang="en-US" sz="2400" b="1">
                <a:solidFill>
                  <a:srgbClr val="C00000"/>
                </a:solidFill>
                <a:ea typeface="Cambria" pitchFamily="34" charset="-122"/>
                <a:cs typeface="Cambria" pitchFamily="34" charset="-120"/>
              </a:rPr>
              <a:t>▼ −3.05</a:t>
            </a:r>
            <a:r>
              <a:rPr lang="en-US" sz="2400" b="1" dirty="0">
                <a:solidFill>
                  <a:srgbClr val="C00000"/>
                </a:solidFill>
                <a:ea typeface="Cambria" pitchFamily="34" charset="-122"/>
                <a:cs typeface="Cambria" pitchFamily="34" charset="-120"/>
              </a:rPr>
              <a:t>%</a:t>
            </a:r>
            <a:endParaRPr lang="en-US" sz="2400" dirty="0">
              <a:solidFill>
                <a:srgbClr val="C00000"/>
              </a:solidFill>
            </a:endParaRPr>
          </a:p>
        </p:txBody>
      </p:sp>
      <p:sp>
        <p:nvSpPr>
          <p:cNvPr id="12" name="Text 8"/>
          <p:cNvSpPr/>
          <p:nvPr/>
        </p:nvSpPr>
        <p:spPr>
          <a:xfrm>
            <a:off x="9164132" y="3785615"/>
            <a:ext cx="2362089" cy="189858"/>
          </a:xfrm>
          <a:prstGeom prst="rect">
            <a:avLst/>
          </a:prstGeom>
          <a:noFill/>
          <a:ln/>
        </p:spPr>
        <p:txBody>
          <a:bodyPr wrap="square" lIns="0" tIns="0" rIns="0" bIns="0" rtlCol="0" anchor="t"/>
          <a:lstStyle/>
          <a:p>
            <a:pPr marL="0" indent="0">
              <a:lnSpc>
                <a:spcPct val="105000"/>
              </a:lnSpc>
              <a:buNone/>
            </a:pPr>
            <a:r>
              <a:rPr lang="en-US" sz="1000" dirty="0">
                <a:solidFill>
                  <a:srgbClr val="A6A6AE"/>
                </a:solidFill>
                <a:ea typeface="Calibri" pitchFamily="34" charset="-122"/>
                <a:cs typeface="Calibri" pitchFamily="34" charset="-120"/>
              </a:rPr>
              <a:t>Male headcount growth, 2014–2018</a:t>
            </a:r>
            <a:endParaRPr lang="en-US" sz="1000" dirty="0">
              <a:solidFill>
                <a:srgbClr val="A6A6AE"/>
              </a:solidFill>
            </a:endParaRPr>
          </a:p>
        </p:txBody>
      </p:sp>
      <p:sp>
        <p:nvSpPr>
          <p:cNvPr id="13" name="Shape 9"/>
          <p:cNvSpPr/>
          <p:nvPr/>
        </p:nvSpPr>
        <p:spPr>
          <a:xfrm>
            <a:off x="8965707" y="4539996"/>
            <a:ext cx="2706317" cy="1344168"/>
          </a:xfrm>
          <a:prstGeom prst="roundRect">
            <a:avLst>
              <a:gd name="adj" fmla="val 6000"/>
            </a:avLst>
          </a:prstGeom>
          <a:solidFill>
            <a:srgbClr val="F4F6FA"/>
          </a:solidFill>
          <a:ln/>
          <a:effectLst>
            <a:outerShdw blurRad="76200" dist="25400" dir="5400000" algn="bl" rotWithShape="0">
              <a:srgbClr val="B7C0D4">
                <a:alpha val="40000"/>
              </a:srgbClr>
            </a:outerShdw>
          </a:effectLst>
        </p:spPr>
      </p:sp>
      <p:sp>
        <p:nvSpPr>
          <p:cNvPr id="14" name="Text 10"/>
          <p:cNvSpPr/>
          <p:nvPr/>
        </p:nvSpPr>
        <p:spPr>
          <a:xfrm>
            <a:off x="9137819" y="4941188"/>
            <a:ext cx="2362089" cy="347472"/>
          </a:xfrm>
          <a:prstGeom prst="rect">
            <a:avLst/>
          </a:prstGeom>
          <a:noFill/>
          <a:ln/>
        </p:spPr>
        <p:txBody>
          <a:bodyPr wrap="square" lIns="0" tIns="0" rIns="0" bIns="0" rtlCol="0" anchor="b"/>
          <a:lstStyle/>
          <a:p>
            <a:pPr marL="0" indent="0">
              <a:buNone/>
            </a:pPr>
            <a:r>
              <a:rPr lang="en-US" sz="2400" b="1">
                <a:solidFill>
                  <a:srgbClr val="C00000"/>
                </a:solidFill>
                <a:ea typeface="Cambria" pitchFamily="34" charset="-122"/>
                <a:cs typeface="Cambria" pitchFamily="34" charset="-120"/>
              </a:rPr>
              <a:t>▼ −0.76</a:t>
            </a:r>
            <a:r>
              <a:rPr lang="en-US" sz="2400" b="1" dirty="0">
                <a:solidFill>
                  <a:srgbClr val="C00000"/>
                </a:solidFill>
                <a:ea typeface="Cambria" pitchFamily="34" charset="-122"/>
                <a:cs typeface="Cambria" pitchFamily="34" charset="-120"/>
              </a:rPr>
              <a:t>%</a:t>
            </a:r>
            <a:endParaRPr lang="en-US" sz="2400" dirty="0">
              <a:solidFill>
                <a:srgbClr val="C00000"/>
              </a:solidFill>
            </a:endParaRPr>
          </a:p>
        </p:txBody>
      </p:sp>
      <p:sp>
        <p:nvSpPr>
          <p:cNvPr id="15" name="Text 11"/>
          <p:cNvSpPr/>
          <p:nvPr/>
        </p:nvSpPr>
        <p:spPr>
          <a:xfrm>
            <a:off x="9167537" y="5380387"/>
            <a:ext cx="2506114" cy="162878"/>
          </a:xfrm>
          <a:prstGeom prst="rect">
            <a:avLst/>
          </a:prstGeom>
          <a:noFill/>
          <a:ln/>
        </p:spPr>
        <p:txBody>
          <a:bodyPr wrap="square" lIns="0" tIns="0" rIns="0" bIns="0" rtlCol="0" anchor="t"/>
          <a:lstStyle/>
          <a:p>
            <a:pPr marL="0" indent="0">
              <a:lnSpc>
                <a:spcPct val="105000"/>
              </a:lnSpc>
              <a:buNone/>
            </a:pPr>
            <a:r>
              <a:rPr lang="en-US" sz="1000" dirty="0">
                <a:solidFill>
                  <a:srgbClr val="A6A6AE"/>
                </a:solidFill>
                <a:ea typeface="Calibri" pitchFamily="34" charset="-122"/>
                <a:cs typeface="Calibri" pitchFamily="34" charset="-120"/>
              </a:rPr>
              <a:t>Total sector headcount growth, 2014–2018</a:t>
            </a:r>
            <a:endParaRPr lang="en-US" sz="1000" dirty="0">
              <a:solidFill>
                <a:srgbClr val="A6A6AE"/>
              </a:solidFill>
            </a:endParaRPr>
          </a:p>
        </p:txBody>
      </p:sp>
      <p:sp>
        <p:nvSpPr>
          <p:cNvPr id="16" name="Shape 12"/>
          <p:cNvSpPr/>
          <p:nvPr/>
        </p:nvSpPr>
        <p:spPr>
          <a:xfrm>
            <a:off x="502920" y="5983605"/>
            <a:ext cx="11185855" cy="545211"/>
          </a:xfrm>
          <a:prstGeom prst="roundRect">
            <a:avLst>
              <a:gd name="adj" fmla="val 16667"/>
            </a:avLst>
          </a:prstGeom>
          <a:solidFill>
            <a:srgbClr val="F4F6FA"/>
          </a:solidFill>
          <a:ln/>
        </p:spPr>
      </p:sp>
      <p:sp>
        <p:nvSpPr>
          <p:cNvPr id="17" name="Text 13"/>
          <p:cNvSpPr/>
          <p:nvPr/>
        </p:nvSpPr>
        <p:spPr>
          <a:xfrm>
            <a:off x="779069" y="6078901"/>
            <a:ext cx="10637215" cy="354617"/>
          </a:xfrm>
          <a:prstGeom prst="rect">
            <a:avLst/>
          </a:prstGeom>
          <a:noFill/>
          <a:ln/>
        </p:spPr>
        <p:txBody>
          <a:bodyPr wrap="square" lIns="0" tIns="0" rIns="0" bIns="0" rtlCol="0" anchor="ctr"/>
          <a:lstStyle/>
          <a:p>
            <a:r>
              <a:rPr lang="en-US" sz="1100">
                <a:solidFill>
                  <a:schemeClr val="tx1">
                    <a:lumMod val="85000"/>
                    <a:lumOff val="15000"/>
                  </a:schemeClr>
                </a:solidFill>
              </a:rPr>
              <a:t>Between 2014 and 2018, the NSW public sector decreased in size. However, this decrease was mainly due to a drop in the number of male employees, down by more than 4,000 (4,198), while female headcount increased by around 1,300 (1,273) over the same period.</a:t>
            </a:r>
            <a:endParaRPr lang="en-US" sz="1100" dirty="0">
              <a:solidFill>
                <a:schemeClr val="tx1">
                  <a:lumMod val="85000"/>
                  <a:lumOff val="15000"/>
                </a:schemeClr>
              </a:solidFill>
            </a:endParaRPr>
          </a:p>
        </p:txBody>
      </p:sp>
      <p:sp>
        <p:nvSpPr>
          <p:cNvPr id="19" name="Text 15"/>
          <p:cNvSpPr/>
          <p:nvPr/>
        </p:nvSpPr>
        <p:spPr>
          <a:xfrm>
            <a:off x="11247120" y="6528816"/>
            <a:ext cx="411480" cy="256032"/>
          </a:xfrm>
          <a:prstGeom prst="rect">
            <a:avLst/>
          </a:prstGeom>
          <a:noFill/>
          <a:ln/>
        </p:spPr>
        <p:txBody>
          <a:bodyPr wrap="square" lIns="0" tIns="0" rIns="0" bIns="0" rtlCol="0" anchor="ctr"/>
          <a:lstStyle/>
          <a:p>
            <a:pPr marL="0" indent="0" algn="r">
              <a:buNone/>
            </a:pPr>
            <a:r>
              <a:rPr lang="en-US" sz="850" dirty="0">
                <a:solidFill>
                  <a:srgbClr val="667085"/>
                </a:solidFill>
                <a:ea typeface="Calibri" pitchFamily="34" charset="-122"/>
                <a:cs typeface="Calibri" pitchFamily="34" charset="-120"/>
              </a:rPr>
              <a:t>3</a:t>
            </a:r>
            <a:endParaRPr lang="en-US" sz="850" dirty="0"/>
          </a:p>
        </p:txBody>
      </p:sp>
      <p:pic>
        <p:nvPicPr>
          <p:cNvPr id="21" name="Picture 20">
            <a:extLst>
              <a:ext uri="{FF2B5EF4-FFF2-40B4-BE49-F238E27FC236}">
                <a16:creationId xmlns:a16="http://schemas.microsoft.com/office/drawing/2014/main" id="{82EAED84-C0CF-E707-39A2-E006AE1F80FB}"/>
              </a:ext>
            </a:extLst>
          </p:cNvPr>
          <p:cNvPicPr>
            <a:picLocks noChangeAspect="1"/>
          </p:cNvPicPr>
          <p:nvPr/>
        </p:nvPicPr>
        <p:blipFill>
          <a:blip r:embed="rId5"/>
          <a:stretch>
            <a:fillRect/>
          </a:stretch>
        </p:blipFill>
        <p:spPr>
          <a:xfrm>
            <a:off x="10060685" y="1"/>
            <a:ext cx="2144486" cy="685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65760"/>
            <a:ext cx="9601200" cy="274320"/>
          </a:xfrm>
          <a:prstGeom prst="rect">
            <a:avLst/>
          </a:prstGeom>
          <a:noFill/>
          <a:ln/>
        </p:spPr>
        <p:txBody>
          <a:bodyPr wrap="square" lIns="0" tIns="0" rIns="0" bIns="0" rtlCol="0" anchor="ctr"/>
          <a:lstStyle/>
          <a:p>
            <a:pPr marL="0" indent="0">
              <a:buNone/>
            </a:pPr>
            <a:r>
              <a:rPr lang="en-US" sz="1200" b="1" kern="0" spc="200" dirty="0">
                <a:solidFill>
                  <a:srgbClr val="E3153D"/>
                </a:solidFill>
                <a:ea typeface="Calibri" pitchFamily="34" charset="-122"/>
                <a:cs typeface="Calibri" pitchFamily="34" charset="-120"/>
              </a:rPr>
              <a:t>GENERAL WORKFORCE TRENDS</a:t>
            </a:r>
            <a:endParaRPr lang="en-US" sz="1200" dirty="0">
              <a:solidFill>
                <a:srgbClr val="E3153D"/>
              </a:solidFill>
            </a:endParaRPr>
          </a:p>
        </p:txBody>
      </p:sp>
      <p:sp>
        <p:nvSpPr>
          <p:cNvPr id="3" name="Text 1"/>
          <p:cNvSpPr/>
          <p:nvPr/>
        </p:nvSpPr>
        <p:spPr>
          <a:xfrm>
            <a:off x="502920" y="621792"/>
            <a:ext cx="9966960" cy="685800"/>
          </a:xfrm>
          <a:prstGeom prst="rect">
            <a:avLst/>
          </a:prstGeom>
          <a:noFill/>
          <a:ln/>
        </p:spPr>
        <p:txBody>
          <a:bodyPr wrap="square" lIns="0" tIns="0" rIns="0" bIns="0" rtlCol="0" anchor="t"/>
          <a:lstStyle/>
          <a:p>
            <a:pPr marL="0" indent="0">
              <a:buNone/>
            </a:pPr>
            <a:r>
              <a:rPr lang="en-US" sz="2400" b="1" dirty="0">
                <a:solidFill>
                  <a:srgbClr val="143980"/>
                </a:solidFill>
                <a:ea typeface="Cambria" pitchFamily="34" charset="-122"/>
                <a:cs typeface="Cambria" pitchFamily="34" charset="-120"/>
              </a:rPr>
              <a:t>Female Employees Remain Roughly Two-Thirds of the Sector</a:t>
            </a:r>
            <a:endParaRPr lang="en-US" sz="2400" dirty="0">
              <a:solidFill>
                <a:srgbClr val="143980"/>
              </a:solidFill>
            </a:endParaRPr>
          </a:p>
        </p:txBody>
      </p:sp>
      <p:pic>
        <p:nvPicPr>
          <p:cNvPr id="5" name="Image 0" descr="/home/claude/nsw_deck/icons/percent.png"/>
          <p:cNvPicPr>
            <a:picLocks noChangeAspect="1"/>
          </p:cNvPicPr>
          <p:nvPr/>
        </p:nvPicPr>
        <p:blipFill>
          <a:blip r:embed="rId3"/>
          <a:stretch>
            <a:fillRect/>
          </a:stretch>
        </p:blipFill>
        <p:spPr>
          <a:xfrm>
            <a:off x="11013948" y="580644"/>
            <a:ext cx="402336" cy="402336"/>
          </a:xfrm>
          <a:prstGeom prst="rect">
            <a:avLst/>
          </a:prstGeom>
        </p:spPr>
      </p:pic>
      <p:graphicFrame>
        <p:nvGraphicFramePr>
          <p:cNvPr id="6" name="Chart 0"/>
          <p:cNvGraphicFramePr/>
          <p:nvPr>
            <p:extLst>
              <p:ext uri="{D42A27DB-BD31-4B8C-83A1-F6EECF244321}">
                <p14:modId xmlns:p14="http://schemas.microsoft.com/office/powerpoint/2010/main" val="3064880873"/>
              </p:ext>
            </p:extLst>
          </p:nvPr>
        </p:nvGraphicFramePr>
        <p:xfrm>
          <a:off x="502920" y="1600200"/>
          <a:ext cx="7452360" cy="443484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8138160" y="1600200"/>
            <a:ext cx="3547872" cy="1508760"/>
          </a:xfrm>
          <a:prstGeom prst="roundRect">
            <a:avLst>
              <a:gd name="adj" fmla="val 5455"/>
            </a:avLst>
          </a:prstGeom>
          <a:solidFill>
            <a:srgbClr val="F4F6FA"/>
          </a:solidFill>
          <a:ln/>
          <a:effectLst>
            <a:outerShdw blurRad="76200" dist="25400" dir="5400000" algn="bl" rotWithShape="0">
              <a:srgbClr val="B7C0D4">
                <a:alpha val="40000"/>
              </a:srgbClr>
            </a:outerShdw>
          </a:effectLst>
        </p:spPr>
      </p:sp>
      <p:sp>
        <p:nvSpPr>
          <p:cNvPr id="8" name="Text 4"/>
          <p:cNvSpPr/>
          <p:nvPr/>
        </p:nvSpPr>
        <p:spPr>
          <a:xfrm>
            <a:off x="8339328" y="2071116"/>
            <a:ext cx="3145536" cy="342900"/>
          </a:xfrm>
          <a:prstGeom prst="rect">
            <a:avLst/>
          </a:prstGeom>
          <a:noFill/>
          <a:ln/>
        </p:spPr>
        <p:txBody>
          <a:bodyPr wrap="square" lIns="0" tIns="0" rIns="0" bIns="0" rtlCol="0" anchor="b"/>
          <a:lstStyle/>
          <a:p>
            <a:pPr marL="0" indent="0">
              <a:buNone/>
            </a:pPr>
            <a:r>
              <a:rPr lang="en-US" sz="2400" b="1" dirty="0">
                <a:solidFill>
                  <a:schemeClr val="accent6"/>
                </a:solidFill>
                <a:ea typeface="Cambria" pitchFamily="34" charset="-122"/>
                <a:cs typeface="Cambria" pitchFamily="34" charset="-120"/>
              </a:rPr>
              <a:t>64.0% → 64.8%</a:t>
            </a:r>
            <a:endParaRPr lang="en-US" sz="2400" dirty="0">
              <a:solidFill>
                <a:schemeClr val="accent6"/>
              </a:solidFill>
            </a:endParaRPr>
          </a:p>
        </p:txBody>
      </p:sp>
      <p:sp>
        <p:nvSpPr>
          <p:cNvPr id="9" name="Text 5"/>
          <p:cNvSpPr/>
          <p:nvPr/>
        </p:nvSpPr>
        <p:spPr>
          <a:xfrm>
            <a:off x="8339328" y="2510943"/>
            <a:ext cx="3145536" cy="195681"/>
          </a:xfrm>
          <a:prstGeom prst="rect">
            <a:avLst/>
          </a:prstGeom>
          <a:noFill/>
          <a:ln/>
        </p:spPr>
        <p:txBody>
          <a:bodyPr wrap="square" lIns="0" tIns="0" rIns="0" bIns="0" rtlCol="0" anchor="t"/>
          <a:lstStyle/>
          <a:p>
            <a:pPr marL="0" indent="0">
              <a:lnSpc>
                <a:spcPct val="105000"/>
              </a:lnSpc>
              <a:buNone/>
            </a:pPr>
            <a:r>
              <a:rPr lang="en-US" sz="1000" dirty="0">
                <a:solidFill>
                  <a:srgbClr val="A6A6AE"/>
                </a:solidFill>
                <a:ea typeface="Calibri" pitchFamily="34" charset="-122"/>
                <a:cs typeface="Calibri" pitchFamily="34" charset="-120"/>
              </a:rPr>
              <a:t>Female share of the sector, 2014 vs 2018</a:t>
            </a:r>
            <a:endParaRPr lang="en-US" sz="1000" dirty="0">
              <a:solidFill>
                <a:srgbClr val="A6A6AE"/>
              </a:solidFill>
            </a:endParaRPr>
          </a:p>
        </p:txBody>
      </p:sp>
      <p:sp>
        <p:nvSpPr>
          <p:cNvPr id="10" name="Shape 6"/>
          <p:cNvSpPr/>
          <p:nvPr/>
        </p:nvSpPr>
        <p:spPr>
          <a:xfrm>
            <a:off x="8138160" y="3291840"/>
            <a:ext cx="3547872" cy="1508760"/>
          </a:xfrm>
          <a:prstGeom prst="roundRect">
            <a:avLst>
              <a:gd name="adj" fmla="val 5455"/>
            </a:avLst>
          </a:prstGeom>
          <a:solidFill>
            <a:srgbClr val="F4F6FA"/>
          </a:solidFill>
          <a:ln/>
          <a:effectLst>
            <a:outerShdw blurRad="76200" dist="25400" dir="5400000" algn="bl" rotWithShape="0">
              <a:srgbClr val="B7C0D4">
                <a:alpha val="40000"/>
              </a:srgbClr>
            </a:outerShdw>
          </a:effectLst>
        </p:spPr>
      </p:sp>
      <p:sp>
        <p:nvSpPr>
          <p:cNvPr id="11" name="Text 7"/>
          <p:cNvSpPr/>
          <p:nvPr/>
        </p:nvSpPr>
        <p:spPr>
          <a:xfrm>
            <a:off x="8339328" y="3696767"/>
            <a:ext cx="3145536" cy="387705"/>
          </a:xfrm>
          <a:prstGeom prst="rect">
            <a:avLst/>
          </a:prstGeom>
          <a:noFill/>
          <a:ln/>
        </p:spPr>
        <p:txBody>
          <a:bodyPr wrap="square" lIns="0" tIns="0" rIns="0" bIns="0" rtlCol="0" anchor="b"/>
          <a:lstStyle/>
          <a:p>
            <a:pPr marL="0" indent="0">
              <a:buNone/>
            </a:pPr>
            <a:r>
              <a:rPr lang="en-US" sz="2400" b="1" dirty="0">
                <a:solidFill>
                  <a:srgbClr val="C00000"/>
                </a:solidFill>
                <a:ea typeface="Cambria" pitchFamily="34" charset="-122"/>
                <a:cs typeface="Cambria" pitchFamily="34" charset="-120"/>
              </a:rPr>
              <a:t>36.0% → 35.2%</a:t>
            </a:r>
            <a:endParaRPr lang="en-US" sz="2400" dirty="0">
              <a:solidFill>
                <a:srgbClr val="C00000"/>
              </a:solidFill>
            </a:endParaRPr>
          </a:p>
        </p:txBody>
      </p:sp>
      <p:sp>
        <p:nvSpPr>
          <p:cNvPr id="12" name="Text 8"/>
          <p:cNvSpPr/>
          <p:nvPr/>
        </p:nvSpPr>
        <p:spPr>
          <a:xfrm>
            <a:off x="8339328" y="4175912"/>
            <a:ext cx="3145536" cy="159105"/>
          </a:xfrm>
          <a:prstGeom prst="rect">
            <a:avLst/>
          </a:prstGeom>
          <a:noFill/>
          <a:ln/>
        </p:spPr>
        <p:txBody>
          <a:bodyPr wrap="square" lIns="0" tIns="0" rIns="0" bIns="0" rtlCol="0" anchor="t"/>
          <a:lstStyle/>
          <a:p>
            <a:pPr marL="0" indent="0">
              <a:lnSpc>
                <a:spcPct val="105000"/>
              </a:lnSpc>
              <a:buNone/>
            </a:pPr>
            <a:r>
              <a:rPr lang="en-US" sz="1000" dirty="0">
                <a:solidFill>
                  <a:srgbClr val="A6A6AE"/>
                </a:solidFill>
                <a:ea typeface="Calibri" pitchFamily="34" charset="-122"/>
                <a:cs typeface="Calibri" pitchFamily="34" charset="-120"/>
              </a:rPr>
              <a:t>Male share of the sector, 2014 vs 2018</a:t>
            </a:r>
            <a:endParaRPr lang="en-US" sz="1000" dirty="0">
              <a:solidFill>
                <a:srgbClr val="A6A6AE"/>
              </a:solidFill>
            </a:endParaRPr>
          </a:p>
        </p:txBody>
      </p:sp>
      <p:sp>
        <p:nvSpPr>
          <p:cNvPr id="13" name="Shape 9"/>
          <p:cNvSpPr/>
          <p:nvPr/>
        </p:nvSpPr>
        <p:spPr>
          <a:xfrm>
            <a:off x="8138160" y="4983480"/>
            <a:ext cx="3547872" cy="1078992"/>
          </a:xfrm>
          <a:prstGeom prst="roundRect">
            <a:avLst>
              <a:gd name="adj" fmla="val 5932"/>
            </a:avLst>
          </a:prstGeom>
          <a:solidFill>
            <a:srgbClr val="F4F6FA"/>
          </a:solidFill>
          <a:ln/>
        </p:spPr>
      </p:sp>
      <p:sp>
        <p:nvSpPr>
          <p:cNvPr id="14" name="Shape 10"/>
          <p:cNvSpPr/>
          <p:nvPr/>
        </p:nvSpPr>
        <p:spPr>
          <a:xfrm>
            <a:off x="8339328" y="5303520"/>
            <a:ext cx="438912" cy="438912"/>
          </a:xfrm>
          <a:prstGeom prst="ellipse">
            <a:avLst/>
          </a:prstGeom>
          <a:solidFill>
            <a:srgbClr val="0B1E46"/>
          </a:solidFill>
          <a:ln/>
        </p:spPr>
      </p:sp>
      <p:pic>
        <p:nvPicPr>
          <p:cNvPr id="15" name="Image 1" descr="/home/claude/nsw_deck/icons/trendingUp.png"/>
          <p:cNvPicPr>
            <a:picLocks noChangeAspect="1"/>
          </p:cNvPicPr>
          <p:nvPr/>
        </p:nvPicPr>
        <p:blipFill>
          <a:blip r:embed="rId5"/>
          <a:stretch>
            <a:fillRect/>
          </a:stretch>
        </p:blipFill>
        <p:spPr>
          <a:xfrm>
            <a:off x="8444484" y="5399532"/>
            <a:ext cx="228600" cy="228600"/>
          </a:xfrm>
          <a:prstGeom prst="rect">
            <a:avLst/>
          </a:prstGeom>
        </p:spPr>
      </p:pic>
      <p:sp>
        <p:nvSpPr>
          <p:cNvPr id="16" name="Text 11"/>
          <p:cNvSpPr/>
          <p:nvPr/>
        </p:nvSpPr>
        <p:spPr>
          <a:xfrm>
            <a:off x="8961120" y="5074920"/>
            <a:ext cx="2496312" cy="896112"/>
          </a:xfrm>
          <a:prstGeom prst="rect">
            <a:avLst/>
          </a:prstGeom>
          <a:noFill/>
          <a:ln/>
        </p:spPr>
        <p:txBody>
          <a:bodyPr wrap="square" lIns="0" tIns="0" rIns="0" bIns="0" rtlCol="0" anchor="ctr"/>
          <a:lstStyle/>
          <a:p>
            <a:pPr marL="0" indent="0">
              <a:lnSpc>
                <a:spcPct val="118000"/>
              </a:lnSpc>
              <a:buNone/>
            </a:pPr>
            <a:r>
              <a:rPr lang="en-US" sz="1100" dirty="0">
                <a:solidFill>
                  <a:schemeClr val="tx1">
                    <a:lumMod val="85000"/>
                    <a:lumOff val="15000"/>
                  </a:schemeClr>
                </a:solidFill>
                <a:ea typeface="Calibri" pitchFamily="34" charset="-122"/>
                <a:cs typeface="Calibri" pitchFamily="34" charset="-120"/>
              </a:rPr>
              <a:t>Female representation has edged higher every year since 2014, continuing a long-standing pattern in the sector’s gender composition.</a:t>
            </a:r>
            <a:endParaRPr lang="en-US" sz="1100" dirty="0">
              <a:solidFill>
                <a:schemeClr val="tx1">
                  <a:lumMod val="85000"/>
                  <a:lumOff val="15000"/>
                </a:schemeClr>
              </a:solidFill>
            </a:endParaRPr>
          </a:p>
        </p:txBody>
      </p:sp>
      <p:sp>
        <p:nvSpPr>
          <p:cNvPr id="18" name="Text 13"/>
          <p:cNvSpPr/>
          <p:nvPr/>
        </p:nvSpPr>
        <p:spPr>
          <a:xfrm>
            <a:off x="11247120" y="6528816"/>
            <a:ext cx="411480" cy="256032"/>
          </a:xfrm>
          <a:prstGeom prst="rect">
            <a:avLst/>
          </a:prstGeom>
          <a:noFill/>
          <a:ln/>
        </p:spPr>
        <p:txBody>
          <a:bodyPr wrap="square" lIns="0" tIns="0" rIns="0" bIns="0" rtlCol="0" anchor="ctr"/>
          <a:lstStyle/>
          <a:p>
            <a:pPr marL="0" indent="0" algn="r">
              <a:buNone/>
            </a:pPr>
            <a:r>
              <a:rPr lang="en-US" sz="850" dirty="0">
                <a:solidFill>
                  <a:srgbClr val="667085"/>
                </a:solidFill>
                <a:ea typeface="Calibri" pitchFamily="34" charset="-122"/>
                <a:cs typeface="Calibri" pitchFamily="34" charset="-120"/>
              </a:rPr>
              <a:t>4</a:t>
            </a:r>
            <a:endParaRPr lang="en-US" sz="850" dirty="0"/>
          </a:p>
        </p:txBody>
      </p:sp>
      <p:pic>
        <p:nvPicPr>
          <p:cNvPr id="20" name="Picture 19">
            <a:extLst>
              <a:ext uri="{FF2B5EF4-FFF2-40B4-BE49-F238E27FC236}">
                <a16:creationId xmlns:a16="http://schemas.microsoft.com/office/drawing/2014/main" id="{986F9A35-0ACE-4E8D-795B-DA63059A5E5F}"/>
              </a:ext>
            </a:extLst>
          </p:cNvPr>
          <p:cNvPicPr>
            <a:picLocks noChangeAspect="1"/>
          </p:cNvPicPr>
          <p:nvPr/>
        </p:nvPicPr>
        <p:blipFill>
          <a:blip r:embed="rId6"/>
          <a:stretch>
            <a:fillRect/>
          </a:stretch>
        </p:blipFill>
        <p:spPr>
          <a:xfrm>
            <a:off x="10060685" y="1"/>
            <a:ext cx="2144486" cy="685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65760"/>
            <a:ext cx="9601200" cy="274320"/>
          </a:xfrm>
          <a:prstGeom prst="rect">
            <a:avLst/>
          </a:prstGeom>
          <a:noFill/>
          <a:ln/>
        </p:spPr>
        <p:txBody>
          <a:bodyPr wrap="square" lIns="0" tIns="0" rIns="0" bIns="0" rtlCol="0" anchor="ctr"/>
          <a:lstStyle/>
          <a:p>
            <a:pPr marL="0" indent="0">
              <a:buNone/>
            </a:pPr>
            <a:r>
              <a:rPr lang="en-US" sz="1200" b="1" kern="0" spc="200" dirty="0">
                <a:solidFill>
                  <a:srgbClr val="E3153D"/>
                </a:solidFill>
                <a:ea typeface="Calibri" pitchFamily="34" charset="-122"/>
                <a:cs typeface="Calibri" pitchFamily="34" charset="-120"/>
              </a:rPr>
              <a:t>PART-TIME WORKFORCE ANALYSIS</a:t>
            </a:r>
            <a:endParaRPr lang="en-US" sz="1200" dirty="0">
              <a:solidFill>
                <a:srgbClr val="E3153D"/>
              </a:solidFill>
            </a:endParaRPr>
          </a:p>
        </p:txBody>
      </p:sp>
      <p:sp>
        <p:nvSpPr>
          <p:cNvPr id="3" name="Text 1"/>
          <p:cNvSpPr/>
          <p:nvPr/>
        </p:nvSpPr>
        <p:spPr>
          <a:xfrm>
            <a:off x="502920" y="621792"/>
            <a:ext cx="9966960" cy="685800"/>
          </a:xfrm>
          <a:prstGeom prst="rect">
            <a:avLst/>
          </a:prstGeom>
          <a:noFill/>
          <a:ln/>
        </p:spPr>
        <p:txBody>
          <a:bodyPr wrap="square" lIns="0" tIns="0" rIns="0" bIns="0" rtlCol="0" anchor="t"/>
          <a:lstStyle/>
          <a:p>
            <a:pPr marL="0" indent="0">
              <a:buNone/>
            </a:pPr>
            <a:r>
              <a:rPr lang="en-US" sz="2400" b="1" dirty="0">
                <a:solidFill>
                  <a:srgbClr val="143980"/>
                </a:solidFill>
                <a:ea typeface="Cambria" pitchFamily="34" charset="-122"/>
                <a:cs typeface="Cambria" pitchFamily="34" charset="-120"/>
              </a:rPr>
              <a:t>Part-Time Work Is Rising — Fastest Among Men</a:t>
            </a:r>
            <a:endParaRPr lang="en-US" sz="2400" dirty="0">
              <a:solidFill>
                <a:srgbClr val="143980"/>
              </a:solidFill>
            </a:endParaRPr>
          </a:p>
        </p:txBody>
      </p:sp>
      <p:pic>
        <p:nvPicPr>
          <p:cNvPr id="5" name="Image 0" descr="/home/claude/nsw_deck/icons/clock.png"/>
          <p:cNvPicPr>
            <a:picLocks noChangeAspect="1"/>
          </p:cNvPicPr>
          <p:nvPr/>
        </p:nvPicPr>
        <p:blipFill>
          <a:blip r:embed="rId3"/>
          <a:stretch>
            <a:fillRect/>
          </a:stretch>
        </p:blipFill>
        <p:spPr>
          <a:xfrm>
            <a:off x="11013948" y="580644"/>
            <a:ext cx="402336" cy="402336"/>
          </a:xfrm>
          <a:prstGeom prst="rect">
            <a:avLst/>
          </a:prstGeom>
        </p:spPr>
      </p:pic>
      <p:graphicFrame>
        <p:nvGraphicFramePr>
          <p:cNvPr id="6" name="Chart 0"/>
          <p:cNvGraphicFramePr/>
          <p:nvPr>
            <p:extLst>
              <p:ext uri="{D42A27DB-BD31-4B8C-83A1-F6EECF244321}">
                <p14:modId xmlns:p14="http://schemas.microsoft.com/office/powerpoint/2010/main" val="1113009561"/>
              </p:ext>
            </p:extLst>
          </p:nvPr>
        </p:nvGraphicFramePr>
        <p:xfrm>
          <a:off x="502920" y="1536192"/>
          <a:ext cx="7479254" cy="4700016"/>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 10"/>
          <p:cNvSpPr/>
          <p:nvPr/>
        </p:nvSpPr>
        <p:spPr>
          <a:xfrm>
            <a:off x="11247120" y="6528816"/>
            <a:ext cx="411480" cy="256032"/>
          </a:xfrm>
          <a:prstGeom prst="rect">
            <a:avLst/>
          </a:prstGeom>
          <a:noFill/>
          <a:ln/>
        </p:spPr>
        <p:txBody>
          <a:bodyPr wrap="square" lIns="0" tIns="0" rIns="0" bIns="0" rtlCol="0" anchor="ctr"/>
          <a:lstStyle/>
          <a:p>
            <a:pPr marL="0" indent="0" algn="r">
              <a:buNone/>
            </a:pPr>
            <a:r>
              <a:rPr lang="en-US" sz="850" dirty="0">
                <a:solidFill>
                  <a:srgbClr val="667085"/>
                </a:solidFill>
                <a:ea typeface="Calibri" pitchFamily="34" charset="-122"/>
                <a:cs typeface="Calibri" pitchFamily="34" charset="-120"/>
              </a:rPr>
              <a:t>5</a:t>
            </a:r>
            <a:endParaRPr lang="en-US" sz="850" dirty="0"/>
          </a:p>
        </p:txBody>
      </p:sp>
      <p:sp>
        <p:nvSpPr>
          <p:cNvPr id="17" name="Shape 3">
            <a:extLst>
              <a:ext uri="{FF2B5EF4-FFF2-40B4-BE49-F238E27FC236}">
                <a16:creationId xmlns:a16="http://schemas.microsoft.com/office/drawing/2014/main" id="{E5A23F53-E0F5-CA2B-6852-182B3B23F015}"/>
              </a:ext>
            </a:extLst>
          </p:cNvPr>
          <p:cNvSpPr/>
          <p:nvPr/>
        </p:nvSpPr>
        <p:spPr>
          <a:xfrm>
            <a:off x="8141208" y="1538806"/>
            <a:ext cx="3547872" cy="1428248"/>
          </a:xfrm>
          <a:prstGeom prst="roundRect">
            <a:avLst>
              <a:gd name="adj" fmla="val 5455"/>
            </a:avLst>
          </a:prstGeom>
          <a:solidFill>
            <a:srgbClr val="F4F6FA"/>
          </a:solidFill>
          <a:ln/>
          <a:effectLst>
            <a:outerShdw blurRad="76200" dist="25400" dir="5400000" algn="bl" rotWithShape="0">
              <a:srgbClr val="B7C0D4">
                <a:alpha val="40000"/>
              </a:srgbClr>
            </a:outerShdw>
          </a:effectLst>
        </p:spPr>
      </p:sp>
      <p:sp>
        <p:nvSpPr>
          <p:cNvPr id="8" name="Text 4"/>
          <p:cNvSpPr/>
          <p:nvPr/>
        </p:nvSpPr>
        <p:spPr>
          <a:xfrm>
            <a:off x="8349817" y="1839780"/>
            <a:ext cx="3160418" cy="594360"/>
          </a:xfrm>
          <a:prstGeom prst="rect">
            <a:avLst/>
          </a:prstGeom>
          <a:noFill/>
          <a:ln/>
        </p:spPr>
        <p:txBody>
          <a:bodyPr wrap="square" lIns="0" tIns="0" rIns="0" bIns="0" rtlCol="0" anchor="ctr"/>
          <a:lstStyle/>
          <a:p>
            <a:pPr marL="0" indent="0">
              <a:lnSpc>
                <a:spcPct val="118000"/>
              </a:lnSpc>
              <a:buNone/>
            </a:pPr>
            <a:r>
              <a:rPr lang="en-US" sz="2000" b="1">
                <a:solidFill>
                  <a:schemeClr val="bg1">
                    <a:lumMod val="50000"/>
                  </a:schemeClr>
                </a:solidFill>
                <a:ea typeface="Calibri" pitchFamily="34" charset="-122"/>
                <a:cs typeface="Calibri" pitchFamily="34" charset="-120"/>
              </a:rPr>
              <a:t>26.7</a:t>
            </a:r>
            <a:r>
              <a:rPr lang="en-US" sz="2000" b="1" dirty="0">
                <a:solidFill>
                  <a:schemeClr val="bg1">
                    <a:lumMod val="50000"/>
                  </a:schemeClr>
                </a:solidFill>
                <a:ea typeface="Calibri" pitchFamily="34" charset="-122"/>
                <a:cs typeface="Calibri" pitchFamily="34" charset="-120"/>
              </a:rPr>
              <a:t>% → 29.6%  (+</a:t>
            </a:r>
            <a:r>
              <a:rPr lang="en-US" sz="2000" b="1">
                <a:solidFill>
                  <a:schemeClr val="bg1">
                    <a:lumMod val="50000"/>
                  </a:schemeClr>
                </a:solidFill>
                <a:ea typeface="Calibri" pitchFamily="34" charset="-122"/>
                <a:cs typeface="Calibri" pitchFamily="34" charset="-120"/>
              </a:rPr>
              <a:t>2.9pp)</a:t>
            </a:r>
          </a:p>
        </p:txBody>
      </p:sp>
      <p:sp>
        <p:nvSpPr>
          <p:cNvPr id="18" name="Text 5">
            <a:extLst>
              <a:ext uri="{FF2B5EF4-FFF2-40B4-BE49-F238E27FC236}">
                <a16:creationId xmlns:a16="http://schemas.microsoft.com/office/drawing/2014/main" id="{77678216-C4DC-4C45-02F4-51EACC375FAD}"/>
              </a:ext>
            </a:extLst>
          </p:cNvPr>
          <p:cNvSpPr/>
          <p:nvPr/>
        </p:nvSpPr>
        <p:spPr>
          <a:xfrm>
            <a:off x="8349817" y="2434140"/>
            <a:ext cx="3145536" cy="232714"/>
          </a:xfrm>
          <a:prstGeom prst="rect">
            <a:avLst/>
          </a:prstGeom>
          <a:noFill/>
          <a:ln/>
        </p:spPr>
        <p:txBody>
          <a:bodyPr wrap="square" lIns="0" tIns="0" rIns="0" bIns="0" rtlCol="0" anchor="t"/>
          <a:lstStyle/>
          <a:p>
            <a:pPr marL="0" indent="0">
              <a:lnSpc>
                <a:spcPct val="105000"/>
              </a:lnSpc>
              <a:buNone/>
            </a:pPr>
            <a:r>
              <a:rPr lang="en-US" sz="1050">
                <a:solidFill>
                  <a:srgbClr val="A6A6AE"/>
                </a:solidFill>
                <a:ea typeface="Calibri" pitchFamily="34" charset="-122"/>
                <a:cs typeface="Calibri" pitchFamily="34" charset="-120"/>
              </a:rPr>
              <a:t>Total Sector</a:t>
            </a:r>
            <a:endParaRPr lang="en-US" sz="1050" dirty="0">
              <a:solidFill>
                <a:srgbClr val="A6A6AE"/>
              </a:solidFill>
            </a:endParaRPr>
          </a:p>
        </p:txBody>
      </p:sp>
      <p:sp>
        <p:nvSpPr>
          <p:cNvPr id="19" name="Shape 3">
            <a:extLst>
              <a:ext uri="{FF2B5EF4-FFF2-40B4-BE49-F238E27FC236}">
                <a16:creationId xmlns:a16="http://schemas.microsoft.com/office/drawing/2014/main" id="{648ED168-1834-EB5D-8931-F4FBF2194C3D}"/>
              </a:ext>
            </a:extLst>
          </p:cNvPr>
          <p:cNvSpPr/>
          <p:nvPr/>
        </p:nvSpPr>
        <p:spPr>
          <a:xfrm>
            <a:off x="8141208" y="3173383"/>
            <a:ext cx="3547872" cy="1428248"/>
          </a:xfrm>
          <a:prstGeom prst="roundRect">
            <a:avLst>
              <a:gd name="adj" fmla="val 5455"/>
            </a:avLst>
          </a:prstGeom>
          <a:solidFill>
            <a:srgbClr val="F4F6FA"/>
          </a:solidFill>
          <a:ln/>
          <a:effectLst>
            <a:outerShdw blurRad="76200" dist="25400" dir="5400000" algn="bl" rotWithShape="0">
              <a:srgbClr val="B7C0D4">
                <a:alpha val="40000"/>
              </a:srgbClr>
            </a:outerShdw>
          </a:effectLst>
        </p:spPr>
      </p:sp>
      <p:sp>
        <p:nvSpPr>
          <p:cNvPr id="20" name="Text 4">
            <a:extLst>
              <a:ext uri="{FF2B5EF4-FFF2-40B4-BE49-F238E27FC236}">
                <a16:creationId xmlns:a16="http://schemas.microsoft.com/office/drawing/2014/main" id="{CD5A9DE7-83B4-E093-2F09-2BB66D7509F2}"/>
              </a:ext>
            </a:extLst>
          </p:cNvPr>
          <p:cNvSpPr/>
          <p:nvPr/>
        </p:nvSpPr>
        <p:spPr>
          <a:xfrm>
            <a:off x="8349817" y="3585549"/>
            <a:ext cx="3160418" cy="381119"/>
          </a:xfrm>
          <a:prstGeom prst="rect">
            <a:avLst/>
          </a:prstGeom>
          <a:noFill/>
          <a:ln/>
        </p:spPr>
        <p:txBody>
          <a:bodyPr wrap="square" lIns="0" tIns="0" rIns="0" bIns="0" rtlCol="0" anchor="ctr"/>
          <a:lstStyle/>
          <a:p>
            <a:pPr marL="0" indent="0">
              <a:lnSpc>
                <a:spcPct val="118000"/>
              </a:lnSpc>
              <a:buNone/>
            </a:pPr>
            <a:r>
              <a:rPr lang="en-US" sz="2000" b="1">
                <a:solidFill>
                  <a:srgbClr val="0B1E46"/>
                </a:solidFill>
                <a:ea typeface="Calibri" pitchFamily="34" charset="-122"/>
                <a:cs typeface="Calibri" pitchFamily="34" charset="-120"/>
              </a:rPr>
              <a:t>35.9% → 36.7%  (+0.7pp)</a:t>
            </a:r>
          </a:p>
        </p:txBody>
      </p:sp>
      <p:sp>
        <p:nvSpPr>
          <p:cNvPr id="21" name="Text 5">
            <a:extLst>
              <a:ext uri="{FF2B5EF4-FFF2-40B4-BE49-F238E27FC236}">
                <a16:creationId xmlns:a16="http://schemas.microsoft.com/office/drawing/2014/main" id="{C04BBC08-B3D3-CCA2-2E73-7E4BF6531D1C}"/>
              </a:ext>
            </a:extLst>
          </p:cNvPr>
          <p:cNvSpPr/>
          <p:nvPr/>
        </p:nvSpPr>
        <p:spPr>
          <a:xfrm>
            <a:off x="8349817" y="4051435"/>
            <a:ext cx="3145536" cy="232714"/>
          </a:xfrm>
          <a:prstGeom prst="rect">
            <a:avLst/>
          </a:prstGeom>
          <a:noFill/>
          <a:ln/>
        </p:spPr>
        <p:txBody>
          <a:bodyPr wrap="square" lIns="0" tIns="0" rIns="0" bIns="0" rtlCol="0" anchor="t"/>
          <a:lstStyle/>
          <a:p>
            <a:pPr marL="0" indent="0">
              <a:lnSpc>
                <a:spcPct val="105000"/>
              </a:lnSpc>
              <a:buNone/>
            </a:pPr>
            <a:r>
              <a:rPr lang="en-US" sz="1050">
                <a:solidFill>
                  <a:srgbClr val="A6A6AE"/>
                </a:solidFill>
                <a:ea typeface="Calibri" pitchFamily="34" charset="-122"/>
                <a:cs typeface="Calibri" pitchFamily="34" charset="-120"/>
              </a:rPr>
              <a:t>Female</a:t>
            </a:r>
            <a:endParaRPr lang="en-US" sz="1050" dirty="0">
              <a:solidFill>
                <a:srgbClr val="A6A6AE"/>
              </a:solidFill>
            </a:endParaRPr>
          </a:p>
        </p:txBody>
      </p:sp>
      <p:sp>
        <p:nvSpPr>
          <p:cNvPr id="22" name="Shape 3">
            <a:extLst>
              <a:ext uri="{FF2B5EF4-FFF2-40B4-BE49-F238E27FC236}">
                <a16:creationId xmlns:a16="http://schemas.microsoft.com/office/drawing/2014/main" id="{39E490BE-5315-3E22-BD39-36968754E382}"/>
              </a:ext>
            </a:extLst>
          </p:cNvPr>
          <p:cNvSpPr/>
          <p:nvPr/>
        </p:nvSpPr>
        <p:spPr>
          <a:xfrm>
            <a:off x="8141208" y="4807960"/>
            <a:ext cx="3547872" cy="1428248"/>
          </a:xfrm>
          <a:prstGeom prst="roundRect">
            <a:avLst>
              <a:gd name="adj" fmla="val 5455"/>
            </a:avLst>
          </a:prstGeom>
          <a:solidFill>
            <a:srgbClr val="F4F6FA"/>
          </a:solidFill>
          <a:ln/>
          <a:effectLst>
            <a:outerShdw blurRad="76200" dist="25400" dir="5400000" algn="bl" rotWithShape="0">
              <a:srgbClr val="B7C0D4">
                <a:alpha val="40000"/>
              </a:srgbClr>
            </a:outerShdw>
          </a:effectLst>
        </p:spPr>
        <p:txBody>
          <a:bodyPr/>
          <a:lstStyle/>
          <a:p>
            <a:endParaRPr lang="en-US"/>
          </a:p>
        </p:txBody>
      </p:sp>
      <p:sp>
        <p:nvSpPr>
          <p:cNvPr id="23" name="Text 4">
            <a:extLst>
              <a:ext uri="{FF2B5EF4-FFF2-40B4-BE49-F238E27FC236}">
                <a16:creationId xmlns:a16="http://schemas.microsoft.com/office/drawing/2014/main" id="{729AA712-9B5F-DC00-4E0F-EF478EBEBDDF}"/>
              </a:ext>
            </a:extLst>
          </p:cNvPr>
          <p:cNvSpPr/>
          <p:nvPr/>
        </p:nvSpPr>
        <p:spPr>
          <a:xfrm>
            <a:off x="8349817" y="5214788"/>
            <a:ext cx="3160418" cy="328511"/>
          </a:xfrm>
          <a:prstGeom prst="rect">
            <a:avLst/>
          </a:prstGeom>
          <a:noFill/>
          <a:ln/>
        </p:spPr>
        <p:txBody>
          <a:bodyPr wrap="square" lIns="0" tIns="0" rIns="0" bIns="0" rtlCol="0" anchor="ctr"/>
          <a:lstStyle/>
          <a:p>
            <a:pPr marL="0" indent="0">
              <a:lnSpc>
                <a:spcPct val="118000"/>
              </a:lnSpc>
              <a:buNone/>
            </a:pPr>
            <a:r>
              <a:rPr lang="en-US" sz="2000" b="1">
                <a:solidFill>
                  <a:schemeClr val="accent6">
                    <a:lumMod val="75000"/>
                  </a:schemeClr>
                </a:solidFill>
                <a:ea typeface="Calibri" pitchFamily="34" charset="-122"/>
                <a:cs typeface="Calibri" pitchFamily="34" charset="-120"/>
              </a:rPr>
              <a:t>10.2% → 16.5%  (+6.3pp)</a:t>
            </a:r>
          </a:p>
        </p:txBody>
      </p:sp>
      <p:sp>
        <p:nvSpPr>
          <p:cNvPr id="24" name="Text 5">
            <a:extLst>
              <a:ext uri="{FF2B5EF4-FFF2-40B4-BE49-F238E27FC236}">
                <a16:creationId xmlns:a16="http://schemas.microsoft.com/office/drawing/2014/main" id="{983D58A6-0E60-3A33-A1A0-4CDDCE07A12A}"/>
              </a:ext>
            </a:extLst>
          </p:cNvPr>
          <p:cNvSpPr/>
          <p:nvPr/>
        </p:nvSpPr>
        <p:spPr>
          <a:xfrm>
            <a:off x="8349817" y="5657039"/>
            <a:ext cx="3145536" cy="232714"/>
          </a:xfrm>
          <a:prstGeom prst="rect">
            <a:avLst/>
          </a:prstGeom>
          <a:noFill/>
          <a:ln/>
        </p:spPr>
        <p:txBody>
          <a:bodyPr wrap="square" lIns="0" tIns="0" rIns="0" bIns="0" rtlCol="0" anchor="t"/>
          <a:lstStyle/>
          <a:p>
            <a:pPr marL="0" indent="0">
              <a:lnSpc>
                <a:spcPct val="105000"/>
              </a:lnSpc>
              <a:buNone/>
            </a:pPr>
            <a:r>
              <a:rPr lang="en-US" sz="1050">
                <a:solidFill>
                  <a:srgbClr val="A6A6AE"/>
                </a:solidFill>
                <a:ea typeface="Calibri" pitchFamily="34" charset="-122"/>
                <a:cs typeface="Calibri" pitchFamily="34" charset="-120"/>
              </a:rPr>
              <a:t>Male</a:t>
            </a:r>
            <a:endParaRPr lang="en-US" sz="1050" dirty="0">
              <a:solidFill>
                <a:srgbClr val="A6A6AE"/>
              </a:solidFill>
            </a:endParaRPr>
          </a:p>
        </p:txBody>
      </p:sp>
      <p:pic>
        <p:nvPicPr>
          <p:cNvPr id="26" name="Picture 25">
            <a:extLst>
              <a:ext uri="{FF2B5EF4-FFF2-40B4-BE49-F238E27FC236}">
                <a16:creationId xmlns:a16="http://schemas.microsoft.com/office/drawing/2014/main" id="{483B91C2-9020-9104-74C1-327214BCE883}"/>
              </a:ext>
            </a:extLst>
          </p:cNvPr>
          <p:cNvPicPr>
            <a:picLocks noChangeAspect="1"/>
          </p:cNvPicPr>
          <p:nvPr/>
        </p:nvPicPr>
        <p:blipFill>
          <a:blip r:embed="rId5"/>
          <a:stretch>
            <a:fillRect/>
          </a:stretch>
        </p:blipFill>
        <p:spPr>
          <a:xfrm>
            <a:off x="10060685" y="1"/>
            <a:ext cx="2144486" cy="685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65760"/>
            <a:ext cx="9601200" cy="274320"/>
          </a:xfrm>
          <a:prstGeom prst="rect">
            <a:avLst/>
          </a:prstGeom>
          <a:noFill/>
          <a:ln/>
        </p:spPr>
        <p:txBody>
          <a:bodyPr wrap="square" lIns="0" tIns="0" rIns="0" bIns="0" rtlCol="0" anchor="ctr"/>
          <a:lstStyle/>
          <a:p>
            <a:pPr marL="0" indent="0">
              <a:buNone/>
            </a:pPr>
            <a:r>
              <a:rPr lang="en-US" sz="1200" b="1" kern="0" spc="200" dirty="0">
                <a:solidFill>
                  <a:srgbClr val="E3153D"/>
                </a:solidFill>
                <a:ea typeface="Calibri" pitchFamily="34" charset="-122"/>
                <a:cs typeface="Calibri" pitchFamily="34" charset="-120"/>
              </a:rPr>
              <a:t>PART-TIME WORKFORCE ANALYSIS</a:t>
            </a:r>
            <a:endParaRPr lang="en-US" sz="1200" dirty="0">
              <a:solidFill>
                <a:srgbClr val="E3153D"/>
              </a:solidFill>
            </a:endParaRPr>
          </a:p>
        </p:txBody>
      </p:sp>
      <p:sp>
        <p:nvSpPr>
          <p:cNvPr id="3" name="Text 1"/>
          <p:cNvSpPr/>
          <p:nvPr/>
        </p:nvSpPr>
        <p:spPr>
          <a:xfrm>
            <a:off x="502920" y="621792"/>
            <a:ext cx="9966960" cy="685800"/>
          </a:xfrm>
          <a:prstGeom prst="rect">
            <a:avLst/>
          </a:prstGeom>
          <a:noFill/>
          <a:ln/>
        </p:spPr>
        <p:txBody>
          <a:bodyPr wrap="square" lIns="0" tIns="0" rIns="0" bIns="0" rtlCol="0" anchor="t"/>
          <a:lstStyle/>
          <a:p>
            <a:pPr marL="0" indent="0">
              <a:buNone/>
            </a:pPr>
            <a:r>
              <a:rPr lang="en-US" sz="2400" b="1" dirty="0">
                <a:solidFill>
                  <a:srgbClr val="143980"/>
                </a:solidFill>
                <a:ea typeface="Cambria" pitchFamily="34" charset="-122"/>
                <a:cs typeface="Cambria" pitchFamily="34" charset="-120"/>
              </a:rPr>
              <a:t>Part-Time Growth Is Concentrated in a Few Clusters</a:t>
            </a:r>
            <a:endParaRPr lang="en-US" sz="2400" dirty="0">
              <a:solidFill>
                <a:srgbClr val="143980"/>
              </a:solidFill>
            </a:endParaRPr>
          </a:p>
        </p:txBody>
      </p:sp>
      <p:pic>
        <p:nvPicPr>
          <p:cNvPr id="5" name="Image 0" descr="/home/claude/nsw_deck/icons/barChart.png"/>
          <p:cNvPicPr>
            <a:picLocks noChangeAspect="1"/>
          </p:cNvPicPr>
          <p:nvPr/>
        </p:nvPicPr>
        <p:blipFill>
          <a:blip r:embed="rId3"/>
          <a:stretch>
            <a:fillRect/>
          </a:stretch>
        </p:blipFill>
        <p:spPr>
          <a:xfrm>
            <a:off x="11013948" y="580644"/>
            <a:ext cx="402336" cy="402336"/>
          </a:xfrm>
          <a:prstGeom prst="rect">
            <a:avLst/>
          </a:prstGeom>
        </p:spPr>
      </p:pic>
      <p:graphicFrame>
        <p:nvGraphicFramePr>
          <p:cNvPr id="6" name="Chart 0"/>
          <p:cNvGraphicFramePr/>
          <p:nvPr>
            <p:extLst>
              <p:ext uri="{D42A27DB-BD31-4B8C-83A1-F6EECF244321}">
                <p14:modId xmlns:p14="http://schemas.microsoft.com/office/powerpoint/2010/main" val="3480431997"/>
              </p:ext>
            </p:extLst>
          </p:nvPr>
        </p:nvGraphicFramePr>
        <p:xfrm>
          <a:off x="502920" y="1481328"/>
          <a:ext cx="11183112" cy="425196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02920" y="5806440"/>
            <a:ext cx="11185855" cy="713232"/>
          </a:xfrm>
          <a:prstGeom prst="roundRect">
            <a:avLst>
              <a:gd name="adj" fmla="val 8974"/>
            </a:avLst>
          </a:prstGeom>
          <a:solidFill>
            <a:srgbClr val="F4F6FA"/>
          </a:solidFill>
          <a:ln/>
        </p:spPr>
      </p:sp>
      <p:sp>
        <p:nvSpPr>
          <p:cNvPr id="8" name="Text 4"/>
          <p:cNvSpPr/>
          <p:nvPr/>
        </p:nvSpPr>
        <p:spPr>
          <a:xfrm>
            <a:off x="775868" y="5867019"/>
            <a:ext cx="10637215" cy="592074"/>
          </a:xfrm>
          <a:prstGeom prst="rect">
            <a:avLst/>
          </a:prstGeom>
          <a:noFill/>
          <a:ln/>
        </p:spPr>
        <p:txBody>
          <a:bodyPr wrap="square" lIns="0" tIns="0" rIns="0" bIns="0" rtlCol="0" anchor="ctr"/>
          <a:lstStyle/>
          <a:p>
            <a:pPr>
              <a:lnSpc>
                <a:spcPct val="100000"/>
              </a:lnSpc>
            </a:pPr>
            <a:r>
              <a:rPr lang="en-US" sz="1100">
                <a:solidFill>
                  <a:schemeClr val="tx1">
                    <a:lumMod val="85000"/>
                    <a:lumOff val="15000"/>
                  </a:schemeClr>
                </a:solidFill>
                <a:ea typeface="Calibri" pitchFamily="34" charset="-122"/>
                <a:cs typeface="Calibri" pitchFamily="34" charset="-120"/>
              </a:rPr>
              <a:t>Finance, Services &amp; Innovation and Education recorded the largest gains. Family &amp; Community Services moved sharply the other way, falling 19 points, the sector's only double-digit decline. Education is the only cluster with more than 40% part-time employees (44.20%), with female part-time employees making up 46.8% of all female employees and male part-time employees making up 35.3% of all male employees.</a:t>
            </a:r>
            <a:endParaRPr lang="en-US" sz="1100"/>
          </a:p>
        </p:txBody>
      </p:sp>
      <p:sp>
        <p:nvSpPr>
          <p:cNvPr id="10" name="Text 6"/>
          <p:cNvSpPr/>
          <p:nvPr/>
        </p:nvSpPr>
        <p:spPr>
          <a:xfrm>
            <a:off x="11247120" y="6528816"/>
            <a:ext cx="411480" cy="256032"/>
          </a:xfrm>
          <a:prstGeom prst="rect">
            <a:avLst/>
          </a:prstGeom>
          <a:noFill/>
          <a:ln/>
        </p:spPr>
        <p:txBody>
          <a:bodyPr wrap="square" lIns="0" tIns="0" rIns="0" bIns="0" rtlCol="0" anchor="ctr"/>
          <a:lstStyle/>
          <a:p>
            <a:pPr marL="0" indent="0" algn="r">
              <a:buNone/>
            </a:pPr>
            <a:r>
              <a:rPr lang="en-US" sz="850" dirty="0">
                <a:solidFill>
                  <a:srgbClr val="667085"/>
                </a:solidFill>
                <a:ea typeface="Calibri" pitchFamily="34" charset="-122"/>
                <a:cs typeface="Calibri" pitchFamily="34" charset="-120"/>
              </a:rPr>
              <a:t>6</a:t>
            </a:r>
            <a:endParaRPr lang="en-US" sz="850" dirty="0"/>
          </a:p>
        </p:txBody>
      </p:sp>
      <p:pic>
        <p:nvPicPr>
          <p:cNvPr id="12" name="Picture 11">
            <a:extLst>
              <a:ext uri="{FF2B5EF4-FFF2-40B4-BE49-F238E27FC236}">
                <a16:creationId xmlns:a16="http://schemas.microsoft.com/office/drawing/2014/main" id="{9E017E0A-5B08-189B-89A6-1E3063EBB4D8}"/>
              </a:ext>
            </a:extLst>
          </p:cNvPr>
          <p:cNvPicPr>
            <a:picLocks noChangeAspect="1"/>
          </p:cNvPicPr>
          <p:nvPr/>
        </p:nvPicPr>
        <p:blipFill>
          <a:blip r:embed="rId5"/>
          <a:stretch>
            <a:fillRect/>
          </a:stretch>
        </p:blipFill>
        <p:spPr>
          <a:xfrm>
            <a:off x="10060685" y="1"/>
            <a:ext cx="2144486" cy="685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65760"/>
            <a:ext cx="9601200" cy="274320"/>
          </a:xfrm>
          <a:prstGeom prst="rect">
            <a:avLst/>
          </a:prstGeom>
          <a:noFill/>
          <a:ln/>
        </p:spPr>
        <p:txBody>
          <a:bodyPr wrap="square" lIns="0" tIns="0" rIns="0" bIns="0" rtlCol="0" anchor="ctr"/>
          <a:lstStyle/>
          <a:p>
            <a:pPr marL="0" indent="0">
              <a:buNone/>
            </a:pPr>
            <a:r>
              <a:rPr lang="en-US" sz="1200" b="1" kern="0" spc="200" dirty="0">
                <a:solidFill>
                  <a:srgbClr val="E3153D"/>
                </a:solidFill>
                <a:ea typeface="Calibri" pitchFamily="34" charset="-122"/>
                <a:cs typeface="Calibri" pitchFamily="34" charset="-120"/>
              </a:rPr>
              <a:t>PART-TIME WORKFORCE ANALYSIS</a:t>
            </a:r>
            <a:endParaRPr lang="en-US" sz="1200" dirty="0">
              <a:solidFill>
                <a:srgbClr val="E3153D"/>
              </a:solidFill>
            </a:endParaRPr>
          </a:p>
        </p:txBody>
      </p:sp>
      <p:sp>
        <p:nvSpPr>
          <p:cNvPr id="3" name="Text 1"/>
          <p:cNvSpPr/>
          <p:nvPr/>
        </p:nvSpPr>
        <p:spPr>
          <a:xfrm>
            <a:off x="502920" y="621792"/>
            <a:ext cx="9966960" cy="685800"/>
          </a:xfrm>
          <a:prstGeom prst="rect">
            <a:avLst/>
          </a:prstGeom>
          <a:noFill/>
          <a:ln/>
        </p:spPr>
        <p:txBody>
          <a:bodyPr wrap="square" lIns="0" tIns="0" rIns="0" bIns="0" rtlCol="0" anchor="t"/>
          <a:lstStyle/>
          <a:p>
            <a:pPr marL="0" indent="0">
              <a:buNone/>
            </a:pPr>
            <a:r>
              <a:rPr lang="en-US" sz="2400" b="1" dirty="0">
                <a:solidFill>
                  <a:srgbClr val="143980"/>
                </a:solidFill>
                <a:ea typeface="Cambria" pitchFamily="34" charset="-122"/>
                <a:cs typeface="Cambria" pitchFamily="34" charset="-120"/>
              </a:rPr>
              <a:t>Part-Time Uptake Is Not Shared Equally by Gender</a:t>
            </a:r>
            <a:endParaRPr lang="en-US" sz="2400" dirty="0">
              <a:solidFill>
                <a:srgbClr val="143980"/>
              </a:solidFill>
            </a:endParaRPr>
          </a:p>
        </p:txBody>
      </p:sp>
      <p:pic>
        <p:nvPicPr>
          <p:cNvPr id="5" name="Image 0" descr="/home/claude/nsw_deck/icons/activity.png"/>
          <p:cNvPicPr>
            <a:picLocks noChangeAspect="1"/>
          </p:cNvPicPr>
          <p:nvPr/>
        </p:nvPicPr>
        <p:blipFill>
          <a:blip r:embed="rId3"/>
          <a:stretch>
            <a:fillRect/>
          </a:stretch>
        </p:blipFill>
        <p:spPr>
          <a:xfrm>
            <a:off x="11013948" y="580644"/>
            <a:ext cx="402336" cy="402336"/>
          </a:xfrm>
          <a:prstGeom prst="rect">
            <a:avLst/>
          </a:prstGeom>
        </p:spPr>
      </p:pic>
      <p:graphicFrame>
        <p:nvGraphicFramePr>
          <p:cNvPr id="6" name="Chart 0"/>
          <p:cNvGraphicFramePr/>
          <p:nvPr>
            <p:extLst>
              <p:ext uri="{D42A27DB-BD31-4B8C-83A1-F6EECF244321}">
                <p14:modId xmlns:p14="http://schemas.microsoft.com/office/powerpoint/2010/main" val="1205617970"/>
              </p:ext>
            </p:extLst>
          </p:nvPr>
        </p:nvGraphicFramePr>
        <p:xfrm>
          <a:off x="505663" y="1472184"/>
          <a:ext cx="11183112" cy="429768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502920" y="5760720"/>
            <a:ext cx="11185855" cy="777240"/>
          </a:xfrm>
          <a:prstGeom prst="roundRect">
            <a:avLst>
              <a:gd name="adj" fmla="val 8235"/>
            </a:avLst>
          </a:prstGeom>
          <a:solidFill>
            <a:srgbClr val="F4F6FA"/>
          </a:solidFill>
          <a:ln/>
        </p:spPr>
      </p:sp>
      <p:sp>
        <p:nvSpPr>
          <p:cNvPr id="8" name="Shape 4"/>
          <p:cNvSpPr/>
          <p:nvPr/>
        </p:nvSpPr>
        <p:spPr>
          <a:xfrm>
            <a:off x="704088" y="5929884"/>
            <a:ext cx="438912" cy="438912"/>
          </a:xfrm>
          <a:prstGeom prst="ellipse">
            <a:avLst/>
          </a:prstGeom>
          <a:solidFill>
            <a:srgbClr val="0B1E46"/>
          </a:solidFill>
          <a:ln/>
        </p:spPr>
      </p:sp>
      <p:pic>
        <p:nvPicPr>
          <p:cNvPr id="9" name="Image 1"/>
          <p:cNvPicPr>
            <a:picLocks noChangeAspect="1"/>
          </p:cNvPicPr>
          <p:nvPr/>
        </p:nvPicPr>
        <p:blipFill>
          <a:blip r:embed="rId5"/>
          <a:srcRect/>
          <a:stretch/>
        </p:blipFill>
        <p:spPr>
          <a:xfrm>
            <a:off x="809244" y="6025896"/>
            <a:ext cx="228600" cy="228600"/>
          </a:xfrm>
          <a:prstGeom prst="rect">
            <a:avLst/>
          </a:prstGeom>
        </p:spPr>
      </p:pic>
      <p:sp>
        <p:nvSpPr>
          <p:cNvPr id="10" name="Text 5"/>
          <p:cNvSpPr/>
          <p:nvPr/>
        </p:nvSpPr>
        <p:spPr>
          <a:xfrm>
            <a:off x="1325880" y="5852160"/>
            <a:ext cx="10362895" cy="594360"/>
          </a:xfrm>
          <a:prstGeom prst="rect">
            <a:avLst/>
          </a:prstGeom>
          <a:noFill/>
          <a:ln/>
        </p:spPr>
        <p:txBody>
          <a:bodyPr wrap="square" lIns="0" tIns="0" rIns="0" bIns="0" rtlCol="0" anchor="ctr"/>
          <a:lstStyle/>
          <a:p>
            <a:pPr marL="0" indent="0">
              <a:lnSpc>
                <a:spcPct val="118000"/>
              </a:lnSpc>
              <a:buNone/>
            </a:pPr>
            <a:r>
              <a:rPr lang="en-US" sz="1100">
                <a:solidFill>
                  <a:schemeClr val="tx1">
                    <a:lumMod val="85000"/>
                    <a:lumOff val="15000"/>
                  </a:schemeClr>
                </a:solidFill>
                <a:ea typeface="Calibri" pitchFamily="34" charset="-122"/>
                <a:cs typeface="Calibri" pitchFamily="34" charset="-120"/>
              </a:rPr>
              <a:t>In every cluster, women are more likely than men to work part-time, but by how much varies widely, from a 5-point gap in Transport to nearly 20 points in Planning &amp; Environment.</a:t>
            </a:r>
            <a:endParaRPr lang="en-US" sz="1100" dirty="0">
              <a:solidFill>
                <a:schemeClr val="tx1">
                  <a:lumMod val="85000"/>
                  <a:lumOff val="15000"/>
                </a:schemeClr>
              </a:solidFill>
            </a:endParaRPr>
          </a:p>
        </p:txBody>
      </p:sp>
      <p:sp>
        <p:nvSpPr>
          <p:cNvPr id="12" name="Text 7"/>
          <p:cNvSpPr/>
          <p:nvPr/>
        </p:nvSpPr>
        <p:spPr>
          <a:xfrm>
            <a:off x="11247120" y="6528816"/>
            <a:ext cx="411480" cy="256032"/>
          </a:xfrm>
          <a:prstGeom prst="rect">
            <a:avLst/>
          </a:prstGeom>
          <a:noFill/>
          <a:ln/>
        </p:spPr>
        <p:txBody>
          <a:bodyPr wrap="square" lIns="0" tIns="0" rIns="0" bIns="0" rtlCol="0" anchor="ctr"/>
          <a:lstStyle/>
          <a:p>
            <a:pPr marL="0" indent="0" algn="r">
              <a:buNone/>
            </a:pPr>
            <a:r>
              <a:rPr lang="en-US" sz="850" dirty="0">
                <a:solidFill>
                  <a:srgbClr val="667085"/>
                </a:solidFill>
                <a:ea typeface="Calibri" pitchFamily="34" charset="-122"/>
                <a:cs typeface="Calibri" pitchFamily="34" charset="-120"/>
              </a:rPr>
              <a:t>7</a:t>
            </a:r>
            <a:endParaRPr lang="en-US" sz="850" dirty="0"/>
          </a:p>
        </p:txBody>
      </p:sp>
      <p:pic>
        <p:nvPicPr>
          <p:cNvPr id="14" name="Picture 13">
            <a:extLst>
              <a:ext uri="{FF2B5EF4-FFF2-40B4-BE49-F238E27FC236}">
                <a16:creationId xmlns:a16="http://schemas.microsoft.com/office/drawing/2014/main" id="{99B658D6-FF14-4359-88D6-A9DE718AF273}"/>
              </a:ext>
            </a:extLst>
          </p:cNvPr>
          <p:cNvPicPr>
            <a:picLocks noChangeAspect="1"/>
          </p:cNvPicPr>
          <p:nvPr/>
        </p:nvPicPr>
        <p:blipFill>
          <a:blip r:embed="rId6"/>
          <a:stretch>
            <a:fillRect/>
          </a:stretch>
        </p:blipFill>
        <p:spPr>
          <a:xfrm>
            <a:off x="10060685" y="1"/>
            <a:ext cx="2144486"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65760"/>
            <a:ext cx="9601200" cy="274320"/>
          </a:xfrm>
          <a:prstGeom prst="rect">
            <a:avLst/>
          </a:prstGeom>
          <a:noFill/>
          <a:ln/>
        </p:spPr>
        <p:txBody>
          <a:bodyPr wrap="square" lIns="0" tIns="0" rIns="0" bIns="0" rtlCol="0" anchor="ctr"/>
          <a:lstStyle/>
          <a:p>
            <a:pPr marL="0" indent="0">
              <a:buNone/>
            </a:pPr>
            <a:r>
              <a:rPr lang="en-US" sz="1400" b="1" kern="0" spc="200" dirty="0">
                <a:solidFill>
                  <a:srgbClr val="C00000"/>
                </a:solidFill>
                <a:ea typeface="Calibri" pitchFamily="34" charset="-122"/>
                <a:cs typeface="Calibri" pitchFamily="34" charset="-120"/>
              </a:rPr>
              <a:t>LOOKING AHEAD</a:t>
            </a:r>
            <a:endParaRPr lang="en-US" sz="1400" dirty="0">
              <a:solidFill>
                <a:srgbClr val="C00000"/>
              </a:solidFill>
            </a:endParaRPr>
          </a:p>
        </p:txBody>
      </p:sp>
      <p:sp>
        <p:nvSpPr>
          <p:cNvPr id="3" name="Text 1"/>
          <p:cNvSpPr/>
          <p:nvPr/>
        </p:nvSpPr>
        <p:spPr>
          <a:xfrm>
            <a:off x="502920" y="621792"/>
            <a:ext cx="9966960" cy="685800"/>
          </a:xfrm>
          <a:prstGeom prst="rect">
            <a:avLst/>
          </a:prstGeom>
          <a:noFill/>
          <a:ln/>
        </p:spPr>
        <p:txBody>
          <a:bodyPr wrap="square" lIns="0" tIns="0" rIns="0" bIns="0" rtlCol="0" anchor="t"/>
          <a:lstStyle/>
          <a:p>
            <a:pPr marL="0" indent="0">
              <a:buNone/>
            </a:pPr>
            <a:r>
              <a:rPr lang="en-US" sz="2800" b="1" dirty="0">
                <a:solidFill>
                  <a:schemeClr val="accent1">
                    <a:lumMod val="50000"/>
                  </a:schemeClr>
                </a:solidFill>
                <a:ea typeface="Cambria" pitchFamily="34" charset="-122"/>
                <a:cs typeface="Cambria" pitchFamily="34" charset="-120"/>
              </a:rPr>
              <a:t>If Current Trends Continue, to 2025</a:t>
            </a:r>
            <a:endParaRPr lang="en-US" sz="2800" dirty="0">
              <a:solidFill>
                <a:schemeClr val="accent1">
                  <a:lumMod val="50000"/>
                </a:schemeClr>
              </a:solidFill>
            </a:endParaRPr>
          </a:p>
        </p:txBody>
      </p:sp>
      <p:pic>
        <p:nvPicPr>
          <p:cNvPr id="5" name="Image 0" descr="/home/claude/nsw_deck/icons/calendar.png"/>
          <p:cNvPicPr>
            <a:picLocks noChangeAspect="1"/>
          </p:cNvPicPr>
          <p:nvPr/>
        </p:nvPicPr>
        <p:blipFill>
          <a:blip r:embed="rId3"/>
          <a:stretch>
            <a:fillRect/>
          </a:stretch>
        </p:blipFill>
        <p:spPr>
          <a:xfrm>
            <a:off x="11013948" y="580644"/>
            <a:ext cx="402336" cy="402336"/>
          </a:xfrm>
          <a:prstGeom prst="rect">
            <a:avLst/>
          </a:prstGeom>
        </p:spPr>
      </p:pic>
      <p:graphicFrame>
        <p:nvGraphicFramePr>
          <p:cNvPr id="6" name="Chart 0"/>
          <p:cNvGraphicFramePr/>
          <p:nvPr>
            <p:extLst>
              <p:ext uri="{D42A27DB-BD31-4B8C-83A1-F6EECF244321}">
                <p14:modId xmlns:p14="http://schemas.microsoft.com/office/powerpoint/2010/main" val="4170056081"/>
              </p:ext>
            </p:extLst>
          </p:nvPr>
        </p:nvGraphicFramePr>
        <p:xfrm>
          <a:off x="502919" y="1536192"/>
          <a:ext cx="8212456" cy="4480560"/>
        </p:xfrm>
        <a:graphic>
          <a:graphicData uri="http://schemas.openxmlformats.org/drawingml/2006/chart">
            <c:chart xmlns:c="http://schemas.openxmlformats.org/drawingml/2006/chart" xmlns:r="http://schemas.openxmlformats.org/officeDocument/2006/relationships" r:id="rId4"/>
          </a:graphicData>
        </a:graphic>
      </p:graphicFrame>
      <p:sp>
        <p:nvSpPr>
          <p:cNvPr id="7" name="Shape 3"/>
          <p:cNvSpPr/>
          <p:nvPr/>
        </p:nvSpPr>
        <p:spPr>
          <a:xfrm>
            <a:off x="8887968" y="1572768"/>
            <a:ext cx="2770632" cy="1371600"/>
          </a:xfrm>
          <a:prstGeom prst="roundRect">
            <a:avLst>
              <a:gd name="adj" fmla="val 6000"/>
            </a:avLst>
          </a:prstGeom>
          <a:solidFill>
            <a:srgbClr val="F4F6FA"/>
          </a:solidFill>
          <a:ln/>
          <a:effectLst>
            <a:outerShdw blurRad="76200" dist="25400" dir="5400000" algn="bl" rotWithShape="0">
              <a:srgbClr val="B7C0D4">
                <a:alpha val="40000"/>
              </a:srgbClr>
            </a:outerShdw>
          </a:effectLst>
        </p:spPr>
      </p:sp>
      <p:sp>
        <p:nvSpPr>
          <p:cNvPr id="8" name="Text 4"/>
          <p:cNvSpPr/>
          <p:nvPr/>
        </p:nvSpPr>
        <p:spPr>
          <a:xfrm>
            <a:off x="9089136" y="1991868"/>
            <a:ext cx="2569464" cy="358140"/>
          </a:xfrm>
          <a:prstGeom prst="rect">
            <a:avLst/>
          </a:prstGeom>
          <a:noFill/>
          <a:ln/>
        </p:spPr>
        <p:txBody>
          <a:bodyPr wrap="square" lIns="0" tIns="0" rIns="0" bIns="0" rtlCol="0" anchor="b"/>
          <a:lstStyle/>
          <a:p>
            <a:pPr marL="0" indent="0">
              <a:buNone/>
            </a:pPr>
            <a:r>
              <a:rPr lang="en-US" sz="2400" b="1">
                <a:solidFill>
                  <a:srgbClr val="0B1E46"/>
                </a:solidFill>
                <a:ea typeface="Cambria" pitchFamily="34" charset="-122"/>
                <a:cs typeface="Cambria" pitchFamily="34" charset="-120"/>
              </a:rPr>
              <a:t>34.7%</a:t>
            </a:r>
            <a:endParaRPr lang="en-US" sz="2400" dirty="0">
              <a:solidFill>
                <a:srgbClr val="0B1E46"/>
              </a:solidFill>
            </a:endParaRPr>
          </a:p>
        </p:txBody>
      </p:sp>
      <p:sp>
        <p:nvSpPr>
          <p:cNvPr id="9" name="Text 5"/>
          <p:cNvSpPr/>
          <p:nvPr/>
        </p:nvSpPr>
        <p:spPr>
          <a:xfrm>
            <a:off x="9089136" y="2418588"/>
            <a:ext cx="2569464" cy="182880"/>
          </a:xfrm>
          <a:prstGeom prst="rect">
            <a:avLst/>
          </a:prstGeom>
          <a:noFill/>
          <a:ln/>
        </p:spPr>
        <p:txBody>
          <a:bodyPr wrap="square" lIns="0" tIns="0" rIns="0" bIns="0" rtlCol="0" anchor="t"/>
          <a:lstStyle/>
          <a:p>
            <a:pPr marL="0" indent="0">
              <a:lnSpc>
                <a:spcPct val="105000"/>
              </a:lnSpc>
              <a:buNone/>
            </a:pPr>
            <a:r>
              <a:rPr lang="en-US" sz="1000" dirty="0">
                <a:solidFill>
                  <a:schemeClr val="bg2">
                    <a:lumMod val="75000"/>
                  </a:schemeClr>
                </a:solidFill>
                <a:ea typeface="Calibri" pitchFamily="34" charset="-122"/>
                <a:cs typeface="Calibri" pitchFamily="34" charset="-120"/>
              </a:rPr>
              <a:t>Projected total sector part-time rate, 2025</a:t>
            </a:r>
            <a:endParaRPr lang="en-US" sz="1000" dirty="0">
              <a:solidFill>
                <a:schemeClr val="bg2">
                  <a:lumMod val="75000"/>
                </a:schemeClr>
              </a:solidFill>
            </a:endParaRPr>
          </a:p>
        </p:txBody>
      </p:sp>
      <p:sp>
        <p:nvSpPr>
          <p:cNvPr id="10" name="Shape 6"/>
          <p:cNvSpPr/>
          <p:nvPr/>
        </p:nvSpPr>
        <p:spPr>
          <a:xfrm>
            <a:off x="8887968" y="3163824"/>
            <a:ext cx="2770632" cy="1371600"/>
          </a:xfrm>
          <a:prstGeom prst="roundRect">
            <a:avLst>
              <a:gd name="adj" fmla="val 6000"/>
            </a:avLst>
          </a:prstGeom>
          <a:solidFill>
            <a:srgbClr val="F4F6FA"/>
          </a:solidFill>
          <a:ln/>
          <a:effectLst>
            <a:outerShdw blurRad="76200" dist="25400" dir="5400000" algn="bl" rotWithShape="0">
              <a:srgbClr val="B7C0D4">
                <a:alpha val="40000"/>
              </a:srgbClr>
            </a:outerShdw>
          </a:effectLst>
        </p:spPr>
      </p:sp>
      <p:sp>
        <p:nvSpPr>
          <p:cNvPr id="11" name="Text 7"/>
          <p:cNvSpPr/>
          <p:nvPr/>
        </p:nvSpPr>
        <p:spPr>
          <a:xfrm>
            <a:off x="9089136" y="3584448"/>
            <a:ext cx="2569464" cy="420624"/>
          </a:xfrm>
          <a:prstGeom prst="rect">
            <a:avLst/>
          </a:prstGeom>
          <a:noFill/>
          <a:ln/>
        </p:spPr>
        <p:txBody>
          <a:bodyPr wrap="square" lIns="0" tIns="0" rIns="0" bIns="0" rtlCol="0" anchor="b"/>
          <a:lstStyle/>
          <a:p>
            <a:pPr marL="0" indent="0">
              <a:buNone/>
            </a:pPr>
            <a:r>
              <a:rPr lang="en-US" sz="2400" b="1">
                <a:solidFill>
                  <a:srgbClr val="0B1E46"/>
                </a:solidFill>
                <a:ea typeface="Cambria" pitchFamily="34" charset="-122"/>
                <a:cs typeface="Cambria" pitchFamily="34" charset="-120"/>
              </a:rPr>
              <a:t>37.9%</a:t>
            </a:r>
            <a:endParaRPr lang="en-US" sz="2400" dirty="0">
              <a:solidFill>
                <a:srgbClr val="0B1E46"/>
              </a:solidFill>
            </a:endParaRPr>
          </a:p>
        </p:txBody>
      </p:sp>
      <p:sp>
        <p:nvSpPr>
          <p:cNvPr id="12" name="Text 8"/>
          <p:cNvSpPr/>
          <p:nvPr/>
        </p:nvSpPr>
        <p:spPr>
          <a:xfrm>
            <a:off x="9089136" y="4078224"/>
            <a:ext cx="2569464" cy="164592"/>
          </a:xfrm>
          <a:prstGeom prst="rect">
            <a:avLst/>
          </a:prstGeom>
          <a:noFill/>
          <a:ln/>
        </p:spPr>
        <p:txBody>
          <a:bodyPr wrap="square" lIns="0" tIns="0" rIns="0" bIns="0" rtlCol="0" anchor="t"/>
          <a:lstStyle/>
          <a:p>
            <a:pPr marL="0" indent="0">
              <a:lnSpc>
                <a:spcPct val="105000"/>
              </a:lnSpc>
              <a:buNone/>
            </a:pPr>
            <a:r>
              <a:rPr lang="en-US" sz="1000" dirty="0">
                <a:solidFill>
                  <a:schemeClr val="bg2">
                    <a:lumMod val="75000"/>
                  </a:schemeClr>
                </a:solidFill>
                <a:ea typeface="Calibri" pitchFamily="34" charset="-122"/>
                <a:cs typeface="Calibri" pitchFamily="34" charset="-120"/>
              </a:rPr>
              <a:t>Projected female part-time rate, 2025</a:t>
            </a:r>
            <a:endParaRPr lang="en-US" sz="1000" dirty="0">
              <a:solidFill>
                <a:schemeClr val="bg2">
                  <a:lumMod val="75000"/>
                </a:schemeClr>
              </a:solidFill>
            </a:endParaRPr>
          </a:p>
        </p:txBody>
      </p:sp>
      <p:sp>
        <p:nvSpPr>
          <p:cNvPr id="13" name="Shape 9"/>
          <p:cNvSpPr/>
          <p:nvPr/>
        </p:nvSpPr>
        <p:spPr>
          <a:xfrm>
            <a:off x="8887968" y="4754880"/>
            <a:ext cx="2770632" cy="1371600"/>
          </a:xfrm>
          <a:prstGeom prst="roundRect">
            <a:avLst>
              <a:gd name="adj" fmla="val 6000"/>
            </a:avLst>
          </a:prstGeom>
          <a:solidFill>
            <a:srgbClr val="F4F6FA"/>
          </a:solidFill>
          <a:ln/>
          <a:effectLst>
            <a:outerShdw blurRad="76200" dist="25400" dir="5400000" algn="bl" rotWithShape="0">
              <a:srgbClr val="B7C0D4">
                <a:alpha val="40000"/>
              </a:srgbClr>
            </a:outerShdw>
          </a:effectLst>
        </p:spPr>
        <p:txBody>
          <a:bodyPr/>
          <a:lstStyle/>
          <a:p>
            <a:endParaRPr lang="en-US"/>
          </a:p>
        </p:txBody>
      </p:sp>
      <p:sp>
        <p:nvSpPr>
          <p:cNvPr id="14" name="Text 10"/>
          <p:cNvSpPr/>
          <p:nvPr/>
        </p:nvSpPr>
        <p:spPr>
          <a:xfrm>
            <a:off x="9089136" y="5175504"/>
            <a:ext cx="2569464" cy="374904"/>
          </a:xfrm>
          <a:prstGeom prst="rect">
            <a:avLst/>
          </a:prstGeom>
          <a:noFill/>
          <a:ln/>
        </p:spPr>
        <p:txBody>
          <a:bodyPr wrap="square" lIns="0" tIns="0" rIns="0" bIns="0" rtlCol="0" anchor="b"/>
          <a:lstStyle/>
          <a:p>
            <a:pPr marL="0" indent="0">
              <a:buNone/>
            </a:pPr>
            <a:r>
              <a:rPr lang="en-US" sz="2400" b="1">
                <a:solidFill>
                  <a:srgbClr val="0B1E46"/>
                </a:solidFill>
                <a:ea typeface="Cambria" pitchFamily="34" charset="-122"/>
                <a:cs typeface="Cambria" pitchFamily="34" charset="-120"/>
              </a:rPr>
              <a:t>27.6%</a:t>
            </a:r>
            <a:endParaRPr lang="en-US" sz="2400" dirty="0">
              <a:solidFill>
                <a:srgbClr val="0B1E46"/>
              </a:solidFill>
            </a:endParaRPr>
          </a:p>
        </p:txBody>
      </p:sp>
      <p:sp>
        <p:nvSpPr>
          <p:cNvPr id="15" name="Text 11"/>
          <p:cNvSpPr/>
          <p:nvPr/>
        </p:nvSpPr>
        <p:spPr>
          <a:xfrm>
            <a:off x="9089136" y="5623560"/>
            <a:ext cx="2569464" cy="164592"/>
          </a:xfrm>
          <a:prstGeom prst="rect">
            <a:avLst/>
          </a:prstGeom>
          <a:noFill/>
          <a:ln/>
        </p:spPr>
        <p:txBody>
          <a:bodyPr wrap="square" lIns="0" tIns="0" rIns="0" bIns="0" rtlCol="0" anchor="t"/>
          <a:lstStyle/>
          <a:p>
            <a:pPr marL="0" indent="0">
              <a:lnSpc>
                <a:spcPct val="105000"/>
              </a:lnSpc>
              <a:buNone/>
            </a:pPr>
            <a:r>
              <a:rPr lang="en-US" sz="1000" dirty="0">
                <a:solidFill>
                  <a:schemeClr val="bg2">
                    <a:lumMod val="75000"/>
                  </a:schemeClr>
                </a:solidFill>
                <a:ea typeface="Calibri" pitchFamily="34" charset="-122"/>
                <a:cs typeface="Calibri" pitchFamily="34" charset="-120"/>
              </a:rPr>
              <a:t>Projected male part-time rate, 2025</a:t>
            </a:r>
            <a:endParaRPr lang="en-US" sz="1000" dirty="0">
              <a:solidFill>
                <a:schemeClr val="bg2">
                  <a:lumMod val="75000"/>
                </a:schemeClr>
              </a:solidFill>
            </a:endParaRPr>
          </a:p>
        </p:txBody>
      </p:sp>
      <p:sp>
        <p:nvSpPr>
          <p:cNvPr id="16" name="Shape 12"/>
          <p:cNvSpPr/>
          <p:nvPr/>
        </p:nvSpPr>
        <p:spPr>
          <a:xfrm>
            <a:off x="502919" y="6236208"/>
            <a:ext cx="11185855" cy="292608"/>
          </a:xfrm>
          <a:prstGeom prst="roundRect">
            <a:avLst>
              <a:gd name="adj" fmla="val 16667"/>
            </a:avLst>
          </a:prstGeom>
          <a:solidFill>
            <a:srgbClr val="F4F6FA"/>
          </a:solidFill>
          <a:ln/>
        </p:spPr>
      </p:sp>
      <p:sp>
        <p:nvSpPr>
          <p:cNvPr id="17" name="Text 13"/>
          <p:cNvSpPr/>
          <p:nvPr/>
        </p:nvSpPr>
        <p:spPr>
          <a:xfrm>
            <a:off x="779069" y="6272784"/>
            <a:ext cx="10637215" cy="201168"/>
          </a:xfrm>
          <a:prstGeom prst="rect">
            <a:avLst/>
          </a:prstGeom>
          <a:noFill/>
          <a:ln/>
        </p:spPr>
        <p:txBody>
          <a:bodyPr wrap="square" lIns="0" tIns="0" rIns="0" bIns="0" rtlCol="0" anchor="ctr"/>
          <a:lstStyle/>
          <a:p>
            <a:pPr marL="0" indent="0">
              <a:lnSpc>
                <a:spcPct val="118000"/>
              </a:lnSpc>
              <a:buNone/>
            </a:pPr>
            <a:r>
              <a:rPr lang="en-US" sz="1100">
                <a:solidFill>
                  <a:schemeClr val="tx1">
                    <a:lumMod val="85000"/>
                    <a:lumOff val="15000"/>
                  </a:schemeClr>
                </a:solidFill>
                <a:ea typeface="Calibri" pitchFamily="34" charset="-122"/>
                <a:cs typeface="Calibri" pitchFamily="34" charset="-120"/>
              </a:rPr>
              <a:t>On this straight-line basis, the gender gap in part-time rates narrows from 20 points today to roughly 10 by 2025, a meaningful shift, but not full convergence.</a:t>
            </a:r>
            <a:endParaRPr lang="en-US" sz="1100" dirty="0">
              <a:solidFill>
                <a:schemeClr val="tx1">
                  <a:lumMod val="85000"/>
                  <a:lumOff val="15000"/>
                </a:schemeClr>
              </a:solidFill>
            </a:endParaRPr>
          </a:p>
        </p:txBody>
      </p:sp>
      <p:sp>
        <p:nvSpPr>
          <p:cNvPr id="19" name="Text 15"/>
          <p:cNvSpPr/>
          <p:nvPr/>
        </p:nvSpPr>
        <p:spPr>
          <a:xfrm>
            <a:off x="11247120" y="6528816"/>
            <a:ext cx="411480" cy="256032"/>
          </a:xfrm>
          <a:prstGeom prst="rect">
            <a:avLst/>
          </a:prstGeom>
          <a:noFill/>
          <a:ln/>
        </p:spPr>
        <p:txBody>
          <a:bodyPr wrap="square" lIns="0" tIns="0" rIns="0" bIns="0" rtlCol="0" anchor="ctr"/>
          <a:lstStyle/>
          <a:p>
            <a:pPr marL="0" indent="0" algn="r">
              <a:buNone/>
            </a:pPr>
            <a:r>
              <a:rPr lang="en-US" sz="850" dirty="0">
                <a:solidFill>
                  <a:srgbClr val="667085"/>
                </a:solidFill>
                <a:cs typeface="Calibri" pitchFamily="34" charset="-120"/>
              </a:rPr>
              <a:t>8</a:t>
            </a:r>
            <a:endParaRPr lang="en-US" sz="850" dirty="0"/>
          </a:p>
        </p:txBody>
      </p:sp>
      <p:pic>
        <p:nvPicPr>
          <p:cNvPr id="21" name="Picture 20">
            <a:extLst>
              <a:ext uri="{FF2B5EF4-FFF2-40B4-BE49-F238E27FC236}">
                <a16:creationId xmlns:a16="http://schemas.microsoft.com/office/drawing/2014/main" id="{C313D459-EA30-2372-36AC-E73617D001F0}"/>
              </a:ext>
            </a:extLst>
          </p:cNvPr>
          <p:cNvPicPr>
            <a:picLocks noChangeAspect="1"/>
          </p:cNvPicPr>
          <p:nvPr/>
        </p:nvPicPr>
        <p:blipFill>
          <a:blip r:embed="rId5"/>
          <a:stretch>
            <a:fillRect/>
          </a:stretch>
        </p:blipFill>
        <p:spPr>
          <a:xfrm>
            <a:off x="10060685" y="1"/>
            <a:ext cx="2144486"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65760"/>
            <a:ext cx="9601200" cy="274320"/>
          </a:xfrm>
          <a:prstGeom prst="rect">
            <a:avLst/>
          </a:prstGeom>
          <a:noFill/>
          <a:ln/>
        </p:spPr>
        <p:txBody>
          <a:bodyPr wrap="square" lIns="0" tIns="0" rIns="0" bIns="0" rtlCol="0" anchor="ctr"/>
          <a:lstStyle/>
          <a:p>
            <a:pPr marL="0" indent="0">
              <a:buNone/>
            </a:pPr>
            <a:r>
              <a:rPr lang="en-US" sz="1200" b="1" kern="0" spc="200" dirty="0">
                <a:solidFill>
                  <a:srgbClr val="C00000"/>
                </a:solidFill>
                <a:ea typeface="Calibri" pitchFamily="34" charset="-122"/>
                <a:cs typeface="Calibri" pitchFamily="34" charset="-120"/>
              </a:rPr>
              <a:t>DEEPER TRENDS</a:t>
            </a:r>
            <a:endParaRPr lang="en-US" sz="1200" dirty="0">
              <a:solidFill>
                <a:srgbClr val="C00000"/>
              </a:solidFill>
            </a:endParaRPr>
          </a:p>
        </p:txBody>
      </p:sp>
      <p:sp>
        <p:nvSpPr>
          <p:cNvPr id="3" name="Text 1"/>
          <p:cNvSpPr/>
          <p:nvPr/>
        </p:nvSpPr>
        <p:spPr>
          <a:xfrm>
            <a:off x="502920" y="621792"/>
            <a:ext cx="9966960" cy="685800"/>
          </a:xfrm>
          <a:prstGeom prst="rect">
            <a:avLst/>
          </a:prstGeom>
          <a:noFill/>
          <a:ln/>
        </p:spPr>
        <p:txBody>
          <a:bodyPr wrap="square" lIns="0" tIns="0" rIns="0" bIns="0" rtlCol="0" anchor="t"/>
          <a:lstStyle/>
          <a:p>
            <a:pPr marL="0" indent="0">
              <a:buNone/>
            </a:pPr>
            <a:r>
              <a:rPr lang="en-US" sz="2400" b="1" dirty="0">
                <a:solidFill>
                  <a:schemeClr val="accent1">
                    <a:lumMod val="50000"/>
                  </a:schemeClr>
                </a:solidFill>
                <a:ea typeface="Cambria" pitchFamily="34" charset="-122"/>
                <a:cs typeface="Cambria" pitchFamily="34" charset="-120"/>
              </a:rPr>
              <a:t>Ten Clusters, Ten Different Trajectories</a:t>
            </a:r>
            <a:endParaRPr lang="en-US" sz="2400" dirty="0">
              <a:solidFill>
                <a:schemeClr val="accent1">
                  <a:lumMod val="50000"/>
                </a:schemeClr>
              </a:solidFill>
            </a:endParaRPr>
          </a:p>
        </p:txBody>
      </p:sp>
      <p:pic>
        <p:nvPicPr>
          <p:cNvPr id="5" name="Image 0" descr="/home/claude/nsw_deck/icons/shuffle.png"/>
          <p:cNvPicPr>
            <a:picLocks noChangeAspect="1"/>
          </p:cNvPicPr>
          <p:nvPr/>
        </p:nvPicPr>
        <p:blipFill>
          <a:blip r:embed="rId3"/>
          <a:stretch>
            <a:fillRect/>
          </a:stretch>
        </p:blipFill>
        <p:spPr>
          <a:xfrm>
            <a:off x="11013948" y="580644"/>
            <a:ext cx="402336" cy="402336"/>
          </a:xfrm>
          <a:prstGeom prst="rect">
            <a:avLst/>
          </a:prstGeom>
        </p:spPr>
      </p:pic>
      <p:sp>
        <p:nvSpPr>
          <p:cNvPr id="6" name="Shape 3"/>
          <p:cNvSpPr/>
          <p:nvPr/>
        </p:nvSpPr>
        <p:spPr>
          <a:xfrm>
            <a:off x="502920" y="1426464"/>
            <a:ext cx="2148840" cy="1993392"/>
          </a:xfrm>
          <a:prstGeom prst="roundRect">
            <a:avLst>
              <a:gd name="adj" fmla="val 2752"/>
            </a:avLst>
          </a:prstGeom>
          <a:solidFill>
            <a:srgbClr val="F4F6FA"/>
          </a:solidFill>
          <a:ln/>
        </p:spPr>
      </p:sp>
      <p:sp>
        <p:nvSpPr>
          <p:cNvPr id="7" name="Text 4"/>
          <p:cNvSpPr/>
          <p:nvPr/>
        </p:nvSpPr>
        <p:spPr>
          <a:xfrm>
            <a:off x="612648" y="1508760"/>
            <a:ext cx="1929384" cy="457200"/>
          </a:xfrm>
          <a:prstGeom prst="rect">
            <a:avLst/>
          </a:prstGeom>
          <a:noFill/>
          <a:ln/>
        </p:spPr>
        <p:txBody>
          <a:bodyPr wrap="square" lIns="0" tIns="0" rIns="0" bIns="0" rtlCol="0" anchor="t"/>
          <a:lstStyle/>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Finance, Services</a:t>
            </a:r>
            <a:endParaRPr lang="en-US" sz="1000" dirty="0">
              <a:solidFill>
                <a:schemeClr val="tx1">
                  <a:lumMod val="85000"/>
                  <a:lumOff val="15000"/>
                </a:schemeClr>
              </a:solidFill>
            </a:endParaRPr>
          </a:p>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&amp; Innovation</a:t>
            </a:r>
            <a:endParaRPr lang="en-US" sz="1000" dirty="0">
              <a:solidFill>
                <a:schemeClr val="tx1">
                  <a:lumMod val="85000"/>
                  <a:lumOff val="15000"/>
                </a:schemeClr>
              </a:solidFill>
            </a:endParaRPr>
          </a:p>
        </p:txBody>
      </p:sp>
      <p:sp>
        <p:nvSpPr>
          <p:cNvPr id="8" name="Text 5"/>
          <p:cNvSpPr/>
          <p:nvPr/>
        </p:nvSpPr>
        <p:spPr>
          <a:xfrm>
            <a:off x="612648" y="1956816"/>
            <a:ext cx="1929384" cy="237744"/>
          </a:xfrm>
          <a:prstGeom prst="rect">
            <a:avLst/>
          </a:prstGeom>
          <a:noFill/>
          <a:ln/>
        </p:spPr>
        <p:txBody>
          <a:bodyPr wrap="square" lIns="0" tIns="0" rIns="0" bIns="0" rtlCol="0" anchor="t"/>
          <a:lstStyle/>
          <a:p>
            <a:pPr marL="0" indent="0">
              <a:buNone/>
            </a:pPr>
            <a:r>
              <a:rPr lang="en-US" sz="1100" b="1" dirty="0">
                <a:solidFill>
                  <a:srgbClr val="0B1E46"/>
                </a:solidFill>
                <a:ea typeface="Calibri" pitchFamily="34" charset="-122"/>
                <a:cs typeface="Calibri" pitchFamily="34" charset="-120"/>
              </a:rPr>
              <a:t>+14.5pp</a:t>
            </a:r>
            <a:endParaRPr lang="en-US" sz="1100" dirty="0">
              <a:solidFill>
                <a:srgbClr val="0B1E46"/>
              </a:solidFill>
            </a:endParaRPr>
          </a:p>
        </p:txBody>
      </p:sp>
      <p:graphicFrame>
        <p:nvGraphicFramePr>
          <p:cNvPr id="9" name="Chart 0"/>
          <p:cNvGraphicFramePr/>
          <p:nvPr>
            <p:extLst>
              <p:ext uri="{D42A27DB-BD31-4B8C-83A1-F6EECF244321}">
                <p14:modId xmlns:p14="http://schemas.microsoft.com/office/powerpoint/2010/main" val="2865628334"/>
              </p:ext>
            </p:extLst>
          </p:nvPr>
        </p:nvGraphicFramePr>
        <p:xfrm>
          <a:off x="576072" y="2212848"/>
          <a:ext cx="2002536" cy="1115568"/>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2770632" y="1426464"/>
            <a:ext cx="2148840" cy="1993392"/>
          </a:xfrm>
          <a:prstGeom prst="roundRect">
            <a:avLst>
              <a:gd name="adj" fmla="val 2752"/>
            </a:avLst>
          </a:prstGeom>
          <a:solidFill>
            <a:srgbClr val="F4F6FA"/>
          </a:solidFill>
          <a:ln/>
        </p:spPr>
      </p:sp>
      <p:sp>
        <p:nvSpPr>
          <p:cNvPr id="11" name="Text 7"/>
          <p:cNvSpPr/>
          <p:nvPr/>
        </p:nvSpPr>
        <p:spPr>
          <a:xfrm>
            <a:off x="2880360" y="1508760"/>
            <a:ext cx="1929384" cy="457200"/>
          </a:xfrm>
          <a:prstGeom prst="rect">
            <a:avLst/>
          </a:prstGeom>
          <a:noFill/>
          <a:ln/>
        </p:spPr>
        <p:txBody>
          <a:bodyPr wrap="square" lIns="0" tIns="0" rIns="0" bIns="0" rtlCol="0" anchor="t"/>
          <a:lstStyle/>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Education</a:t>
            </a:r>
            <a:endParaRPr lang="en-US" sz="1000" dirty="0">
              <a:solidFill>
                <a:schemeClr val="tx1">
                  <a:lumMod val="85000"/>
                  <a:lumOff val="15000"/>
                </a:schemeClr>
              </a:solidFill>
            </a:endParaRPr>
          </a:p>
        </p:txBody>
      </p:sp>
      <p:sp>
        <p:nvSpPr>
          <p:cNvPr id="12" name="Text 8"/>
          <p:cNvSpPr/>
          <p:nvPr/>
        </p:nvSpPr>
        <p:spPr>
          <a:xfrm>
            <a:off x="2880360" y="1956816"/>
            <a:ext cx="1929384" cy="237744"/>
          </a:xfrm>
          <a:prstGeom prst="rect">
            <a:avLst/>
          </a:prstGeom>
          <a:noFill/>
          <a:ln/>
        </p:spPr>
        <p:txBody>
          <a:bodyPr wrap="square" lIns="0" tIns="0" rIns="0" bIns="0" rtlCol="0" anchor="t"/>
          <a:lstStyle/>
          <a:p>
            <a:pPr marL="0" indent="0">
              <a:buNone/>
            </a:pPr>
            <a:r>
              <a:rPr lang="en-US" sz="1100" b="1" dirty="0">
                <a:solidFill>
                  <a:srgbClr val="0B1E46"/>
                </a:solidFill>
                <a:ea typeface="Calibri" pitchFamily="34" charset="-122"/>
                <a:cs typeface="Calibri" pitchFamily="34" charset="-120"/>
              </a:rPr>
              <a:t>+4.5pp</a:t>
            </a:r>
            <a:endParaRPr lang="en-US" sz="1100" dirty="0">
              <a:solidFill>
                <a:srgbClr val="0B1E46"/>
              </a:solidFill>
            </a:endParaRPr>
          </a:p>
        </p:txBody>
      </p:sp>
      <p:graphicFrame>
        <p:nvGraphicFramePr>
          <p:cNvPr id="13" name="Chart 1"/>
          <p:cNvGraphicFramePr/>
          <p:nvPr>
            <p:extLst>
              <p:ext uri="{D42A27DB-BD31-4B8C-83A1-F6EECF244321}">
                <p14:modId xmlns:p14="http://schemas.microsoft.com/office/powerpoint/2010/main" val="2757057850"/>
              </p:ext>
            </p:extLst>
          </p:nvPr>
        </p:nvGraphicFramePr>
        <p:xfrm>
          <a:off x="2843784" y="2212848"/>
          <a:ext cx="2002536" cy="1115568"/>
        </p:xfrm>
        <a:graphic>
          <a:graphicData uri="http://schemas.openxmlformats.org/drawingml/2006/chart">
            <c:chart xmlns:c="http://schemas.openxmlformats.org/drawingml/2006/chart" xmlns:r="http://schemas.openxmlformats.org/officeDocument/2006/relationships" r:id="rId5"/>
          </a:graphicData>
        </a:graphic>
      </p:graphicFrame>
      <p:sp>
        <p:nvSpPr>
          <p:cNvPr id="14" name="Shape 9"/>
          <p:cNvSpPr/>
          <p:nvPr/>
        </p:nvSpPr>
        <p:spPr>
          <a:xfrm>
            <a:off x="5038344" y="1426464"/>
            <a:ext cx="2148840" cy="1993392"/>
          </a:xfrm>
          <a:prstGeom prst="roundRect">
            <a:avLst>
              <a:gd name="adj" fmla="val 2752"/>
            </a:avLst>
          </a:prstGeom>
          <a:solidFill>
            <a:srgbClr val="F4F6FA"/>
          </a:solidFill>
          <a:ln/>
        </p:spPr>
      </p:sp>
      <p:sp>
        <p:nvSpPr>
          <p:cNvPr id="15" name="Text 10"/>
          <p:cNvSpPr/>
          <p:nvPr/>
        </p:nvSpPr>
        <p:spPr>
          <a:xfrm>
            <a:off x="5148072" y="1508760"/>
            <a:ext cx="1929384" cy="457200"/>
          </a:xfrm>
          <a:prstGeom prst="rect">
            <a:avLst/>
          </a:prstGeom>
          <a:noFill/>
          <a:ln/>
        </p:spPr>
        <p:txBody>
          <a:bodyPr wrap="square" lIns="0" tIns="0" rIns="0" bIns="0" rtlCol="0" anchor="t"/>
          <a:lstStyle/>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Transport</a:t>
            </a:r>
            <a:endParaRPr lang="en-US" sz="1000" dirty="0">
              <a:solidFill>
                <a:schemeClr val="tx1">
                  <a:lumMod val="85000"/>
                  <a:lumOff val="15000"/>
                </a:schemeClr>
              </a:solidFill>
            </a:endParaRPr>
          </a:p>
        </p:txBody>
      </p:sp>
      <p:sp>
        <p:nvSpPr>
          <p:cNvPr id="16" name="Text 11"/>
          <p:cNvSpPr/>
          <p:nvPr/>
        </p:nvSpPr>
        <p:spPr>
          <a:xfrm>
            <a:off x="5148072" y="1956816"/>
            <a:ext cx="1929384" cy="237744"/>
          </a:xfrm>
          <a:prstGeom prst="rect">
            <a:avLst/>
          </a:prstGeom>
          <a:noFill/>
          <a:ln/>
        </p:spPr>
        <p:txBody>
          <a:bodyPr wrap="square" lIns="0" tIns="0" rIns="0" bIns="0" rtlCol="0" anchor="t"/>
          <a:lstStyle/>
          <a:p>
            <a:pPr marL="0" indent="0">
              <a:buNone/>
            </a:pPr>
            <a:r>
              <a:rPr lang="en-US" sz="1100" b="1" dirty="0">
                <a:solidFill>
                  <a:srgbClr val="0B1E46"/>
                </a:solidFill>
                <a:ea typeface="Calibri" pitchFamily="34" charset="-122"/>
                <a:cs typeface="Calibri" pitchFamily="34" charset="-120"/>
              </a:rPr>
              <a:t>+4.3pp</a:t>
            </a:r>
            <a:endParaRPr lang="en-US" sz="1100" dirty="0">
              <a:solidFill>
                <a:srgbClr val="0B1E46"/>
              </a:solidFill>
            </a:endParaRPr>
          </a:p>
        </p:txBody>
      </p:sp>
      <p:graphicFrame>
        <p:nvGraphicFramePr>
          <p:cNvPr id="17" name="Chart 2"/>
          <p:cNvGraphicFramePr/>
          <p:nvPr>
            <p:extLst>
              <p:ext uri="{D42A27DB-BD31-4B8C-83A1-F6EECF244321}">
                <p14:modId xmlns:p14="http://schemas.microsoft.com/office/powerpoint/2010/main" val="3973743552"/>
              </p:ext>
            </p:extLst>
          </p:nvPr>
        </p:nvGraphicFramePr>
        <p:xfrm>
          <a:off x="5111496" y="2212848"/>
          <a:ext cx="2002536" cy="1115568"/>
        </p:xfrm>
        <a:graphic>
          <a:graphicData uri="http://schemas.openxmlformats.org/drawingml/2006/chart">
            <c:chart xmlns:c="http://schemas.openxmlformats.org/drawingml/2006/chart" xmlns:r="http://schemas.openxmlformats.org/officeDocument/2006/relationships" r:id="rId6"/>
          </a:graphicData>
        </a:graphic>
      </p:graphicFrame>
      <p:sp>
        <p:nvSpPr>
          <p:cNvPr id="18" name="Shape 12"/>
          <p:cNvSpPr/>
          <p:nvPr/>
        </p:nvSpPr>
        <p:spPr>
          <a:xfrm>
            <a:off x="7306056" y="1426464"/>
            <a:ext cx="2148840" cy="1993392"/>
          </a:xfrm>
          <a:prstGeom prst="roundRect">
            <a:avLst>
              <a:gd name="adj" fmla="val 2752"/>
            </a:avLst>
          </a:prstGeom>
          <a:solidFill>
            <a:srgbClr val="F4F6FA"/>
          </a:solidFill>
          <a:ln/>
        </p:spPr>
      </p:sp>
      <p:sp>
        <p:nvSpPr>
          <p:cNvPr id="19" name="Text 13"/>
          <p:cNvSpPr/>
          <p:nvPr/>
        </p:nvSpPr>
        <p:spPr>
          <a:xfrm>
            <a:off x="7415784" y="1508760"/>
            <a:ext cx="1929384" cy="457200"/>
          </a:xfrm>
          <a:prstGeom prst="rect">
            <a:avLst/>
          </a:prstGeom>
          <a:noFill/>
          <a:ln/>
        </p:spPr>
        <p:txBody>
          <a:bodyPr wrap="square" lIns="0" tIns="0" rIns="0" bIns="0" rtlCol="0" anchor="t"/>
          <a:lstStyle/>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Treasury</a:t>
            </a:r>
            <a:endParaRPr lang="en-US" sz="1000" dirty="0">
              <a:solidFill>
                <a:schemeClr val="tx1">
                  <a:lumMod val="85000"/>
                  <a:lumOff val="15000"/>
                </a:schemeClr>
              </a:solidFill>
            </a:endParaRPr>
          </a:p>
        </p:txBody>
      </p:sp>
      <p:sp>
        <p:nvSpPr>
          <p:cNvPr id="20" name="Text 14"/>
          <p:cNvSpPr/>
          <p:nvPr/>
        </p:nvSpPr>
        <p:spPr>
          <a:xfrm>
            <a:off x="7415784" y="1956816"/>
            <a:ext cx="1929384" cy="237744"/>
          </a:xfrm>
          <a:prstGeom prst="rect">
            <a:avLst/>
          </a:prstGeom>
          <a:noFill/>
          <a:ln/>
        </p:spPr>
        <p:txBody>
          <a:bodyPr wrap="square" lIns="0" tIns="0" rIns="0" bIns="0" rtlCol="0" anchor="t"/>
          <a:lstStyle/>
          <a:p>
            <a:pPr marL="0" indent="0">
              <a:buNone/>
            </a:pPr>
            <a:r>
              <a:rPr lang="en-US" sz="1100" b="1" dirty="0">
                <a:solidFill>
                  <a:srgbClr val="0B1E46"/>
                </a:solidFill>
                <a:ea typeface="Calibri" pitchFamily="34" charset="-122"/>
                <a:cs typeface="Calibri" pitchFamily="34" charset="-120"/>
              </a:rPr>
              <a:t>+4.0pp</a:t>
            </a:r>
            <a:endParaRPr lang="en-US" sz="1100" dirty="0">
              <a:solidFill>
                <a:srgbClr val="0B1E46"/>
              </a:solidFill>
            </a:endParaRPr>
          </a:p>
        </p:txBody>
      </p:sp>
      <p:graphicFrame>
        <p:nvGraphicFramePr>
          <p:cNvPr id="21" name="Chart 3"/>
          <p:cNvGraphicFramePr/>
          <p:nvPr>
            <p:extLst>
              <p:ext uri="{D42A27DB-BD31-4B8C-83A1-F6EECF244321}">
                <p14:modId xmlns:p14="http://schemas.microsoft.com/office/powerpoint/2010/main" val="3338873465"/>
              </p:ext>
            </p:extLst>
          </p:nvPr>
        </p:nvGraphicFramePr>
        <p:xfrm>
          <a:off x="7379208" y="2212848"/>
          <a:ext cx="2002536" cy="1115568"/>
        </p:xfrm>
        <a:graphic>
          <a:graphicData uri="http://schemas.openxmlformats.org/drawingml/2006/chart">
            <c:chart xmlns:c="http://schemas.openxmlformats.org/drawingml/2006/chart" xmlns:r="http://schemas.openxmlformats.org/officeDocument/2006/relationships" r:id="rId7"/>
          </a:graphicData>
        </a:graphic>
      </p:graphicFrame>
      <p:sp>
        <p:nvSpPr>
          <p:cNvPr id="22" name="Shape 15"/>
          <p:cNvSpPr/>
          <p:nvPr/>
        </p:nvSpPr>
        <p:spPr>
          <a:xfrm>
            <a:off x="9573768" y="1426464"/>
            <a:ext cx="2148840" cy="1993392"/>
          </a:xfrm>
          <a:prstGeom prst="roundRect">
            <a:avLst>
              <a:gd name="adj" fmla="val 2752"/>
            </a:avLst>
          </a:prstGeom>
          <a:solidFill>
            <a:srgbClr val="F4F6FA"/>
          </a:solidFill>
          <a:ln/>
        </p:spPr>
      </p:sp>
      <p:sp>
        <p:nvSpPr>
          <p:cNvPr id="23" name="Text 16"/>
          <p:cNvSpPr/>
          <p:nvPr/>
        </p:nvSpPr>
        <p:spPr>
          <a:xfrm>
            <a:off x="9683496" y="1508760"/>
            <a:ext cx="1929384" cy="457200"/>
          </a:xfrm>
          <a:prstGeom prst="rect">
            <a:avLst/>
          </a:prstGeom>
          <a:noFill/>
          <a:ln/>
        </p:spPr>
        <p:txBody>
          <a:bodyPr wrap="square" lIns="0" tIns="0" rIns="0" bIns="0" rtlCol="0" anchor="t"/>
          <a:lstStyle/>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Health</a:t>
            </a:r>
            <a:endParaRPr lang="en-US" sz="1000" dirty="0">
              <a:solidFill>
                <a:schemeClr val="tx1">
                  <a:lumMod val="85000"/>
                  <a:lumOff val="15000"/>
                </a:schemeClr>
              </a:solidFill>
            </a:endParaRPr>
          </a:p>
        </p:txBody>
      </p:sp>
      <p:sp>
        <p:nvSpPr>
          <p:cNvPr id="24" name="Text 17"/>
          <p:cNvSpPr/>
          <p:nvPr/>
        </p:nvSpPr>
        <p:spPr>
          <a:xfrm>
            <a:off x="9683496" y="1956816"/>
            <a:ext cx="1929384" cy="237744"/>
          </a:xfrm>
          <a:prstGeom prst="rect">
            <a:avLst/>
          </a:prstGeom>
          <a:noFill/>
          <a:ln/>
        </p:spPr>
        <p:txBody>
          <a:bodyPr wrap="square" lIns="0" tIns="0" rIns="0" bIns="0" rtlCol="0" anchor="t"/>
          <a:lstStyle/>
          <a:p>
            <a:pPr marL="0" indent="0">
              <a:buNone/>
            </a:pPr>
            <a:r>
              <a:rPr lang="en-US" sz="1100" b="1" dirty="0">
                <a:solidFill>
                  <a:srgbClr val="0B1E46"/>
                </a:solidFill>
                <a:ea typeface="Calibri" pitchFamily="34" charset="-122"/>
                <a:cs typeface="Calibri" pitchFamily="34" charset="-120"/>
              </a:rPr>
              <a:t>+2.4pp</a:t>
            </a:r>
            <a:endParaRPr lang="en-US" sz="1100" dirty="0">
              <a:solidFill>
                <a:srgbClr val="0B1E46"/>
              </a:solidFill>
            </a:endParaRPr>
          </a:p>
        </p:txBody>
      </p:sp>
      <p:graphicFrame>
        <p:nvGraphicFramePr>
          <p:cNvPr id="25" name="Chart 4"/>
          <p:cNvGraphicFramePr/>
          <p:nvPr>
            <p:extLst>
              <p:ext uri="{D42A27DB-BD31-4B8C-83A1-F6EECF244321}">
                <p14:modId xmlns:p14="http://schemas.microsoft.com/office/powerpoint/2010/main" val="3807785607"/>
              </p:ext>
            </p:extLst>
          </p:nvPr>
        </p:nvGraphicFramePr>
        <p:xfrm>
          <a:off x="9646920" y="2212848"/>
          <a:ext cx="2002536" cy="1115568"/>
        </p:xfrm>
        <a:graphic>
          <a:graphicData uri="http://schemas.openxmlformats.org/drawingml/2006/chart">
            <c:chart xmlns:c="http://schemas.openxmlformats.org/drawingml/2006/chart" xmlns:r="http://schemas.openxmlformats.org/officeDocument/2006/relationships" r:id="rId8"/>
          </a:graphicData>
        </a:graphic>
      </p:graphicFrame>
      <p:sp>
        <p:nvSpPr>
          <p:cNvPr id="26" name="Shape 18"/>
          <p:cNvSpPr/>
          <p:nvPr/>
        </p:nvSpPr>
        <p:spPr>
          <a:xfrm>
            <a:off x="502920" y="3547872"/>
            <a:ext cx="2148840" cy="1993392"/>
          </a:xfrm>
          <a:prstGeom prst="roundRect">
            <a:avLst>
              <a:gd name="adj" fmla="val 2752"/>
            </a:avLst>
          </a:prstGeom>
          <a:solidFill>
            <a:srgbClr val="F4F6FA"/>
          </a:solidFill>
          <a:ln/>
        </p:spPr>
      </p:sp>
      <p:sp>
        <p:nvSpPr>
          <p:cNvPr id="27" name="Text 19"/>
          <p:cNvSpPr/>
          <p:nvPr/>
        </p:nvSpPr>
        <p:spPr>
          <a:xfrm>
            <a:off x="612648" y="3630168"/>
            <a:ext cx="1929384" cy="457200"/>
          </a:xfrm>
          <a:prstGeom prst="rect">
            <a:avLst/>
          </a:prstGeom>
          <a:noFill/>
          <a:ln/>
        </p:spPr>
        <p:txBody>
          <a:bodyPr wrap="square" lIns="0" tIns="0" rIns="0" bIns="0" rtlCol="0" anchor="t"/>
          <a:lstStyle/>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Justice</a:t>
            </a:r>
            <a:endParaRPr lang="en-US" sz="1000" dirty="0">
              <a:solidFill>
                <a:schemeClr val="tx1">
                  <a:lumMod val="85000"/>
                  <a:lumOff val="15000"/>
                </a:schemeClr>
              </a:solidFill>
            </a:endParaRPr>
          </a:p>
        </p:txBody>
      </p:sp>
      <p:sp>
        <p:nvSpPr>
          <p:cNvPr id="28" name="Text 20"/>
          <p:cNvSpPr/>
          <p:nvPr/>
        </p:nvSpPr>
        <p:spPr>
          <a:xfrm>
            <a:off x="612648" y="4078224"/>
            <a:ext cx="1929384" cy="237744"/>
          </a:xfrm>
          <a:prstGeom prst="rect">
            <a:avLst/>
          </a:prstGeom>
          <a:noFill/>
          <a:ln/>
        </p:spPr>
        <p:txBody>
          <a:bodyPr wrap="square" lIns="0" tIns="0" rIns="0" bIns="0" rtlCol="0" anchor="t"/>
          <a:lstStyle/>
          <a:p>
            <a:pPr marL="0" indent="0">
              <a:buNone/>
            </a:pPr>
            <a:r>
              <a:rPr lang="en-US" sz="1100" b="1" dirty="0">
                <a:solidFill>
                  <a:srgbClr val="0B1E46"/>
                </a:solidFill>
                <a:ea typeface="Calibri" pitchFamily="34" charset="-122"/>
                <a:cs typeface="Calibri" pitchFamily="34" charset="-120"/>
              </a:rPr>
              <a:t>+1.7pp</a:t>
            </a:r>
            <a:endParaRPr lang="en-US" sz="1100" dirty="0">
              <a:solidFill>
                <a:srgbClr val="0B1E46"/>
              </a:solidFill>
            </a:endParaRPr>
          </a:p>
        </p:txBody>
      </p:sp>
      <p:graphicFrame>
        <p:nvGraphicFramePr>
          <p:cNvPr id="29" name="Chart 5"/>
          <p:cNvGraphicFramePr/>
          <p:nvPr>
            <p:extLst>
              <p:ext uri="{D42A27DB-BD31-4B8C-83A1-F6EECF244321}">
                <p14:modId xmlns:p14="http://schemas.microsoft.com/office/powerpoint/2010/main" val="3906420110"/>
              </p:ext>
            </p:extLst>
          </p:nvPr>
        </p:nvGraphicFramePr>
        <p:xfrm>
          <a:off x="576072" y="4334256"/>
          <a:ext cx="2002536" cy="1115568"/>
        </p:xfrm>
        <a:graphic>
          <a:graphicData uri="http://schemas.openxmlformats.org/drawingml/2006/chart">
            <c:chart xmlns:c="http://schemas.openxmlformats.org/drawingml/2006/chart" xmlns:r="http://schemas.openxmlformats.org/officeDocument/2006/relationships" r:id="rId9"/>
          </a:graphicData>
        </a:graphic>
      </p:graphicFrame>
      <p:sp>
        <p:nvSpPr>
          <p:cNvPr id="30" name="Shape 21"/>
          <p:cNvSpPr/>
          <p:nvPr/>
        </p:nvSpPr>
        <p:spPr>
          <a:xfrm>
            <a:off x="2770632" y="3547872"/>
            <a:ext cx="2148840" cy="1993392"/>
          </a:xfrm>
          <a:prstGeom prst="roundRect">
            <a:avLst>
              <a:gd name="adj" fmla="val 2752"/>
            </a:avLst>
          </a:prstGeom>
          <a:solidFill>
            <a:srgbClr val="F4F6FA"/>
          </a:solidFill>
          <a:ln/>
        </p:spPr>
      </p:sp>
      <p:sp>
        <p:nvSpPr>
          <p:cNvPr id="31" name="Text 22"/>
          <p:cNvSpPr/>
          <p:nvPr/>
        </p:nvSpPr>
        <p:spPr>
          <a:xfrm>
            <a:off x="2880360" y="3630168"/>
            <a:ext cx="1929384" cy="457200"/>
          </a:xfrm>
          <a:prstGeom prst="rect">
            <a:avLst/>
          </a:prstGeom>
          <a:noFill/>
          <a:ln/>
        </p:spPr>
        <p:txBody>
          <a:bodyPr wrap="square" lIns="0" tIns="0" rIns="0" bIns="0" rtlCol="0" anchor="t"/>
          <a:lstStyle/>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Planning &amp;</a:t>
            </a:r>
            <a:endParaRPr lang="en-US" sz="1000" dirty="0">
              <a:solidFill>
                <a:schemeClr val="tx1">
                  <a:lumMod val="85000"/>
                  <a:lumOff val="15000"/>
                </a:schemeClr>
              </a:solidFill>
            </a:endParaRPr>
          </a:p>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Environment</a:t>
            </a:r>
            <a:endParaRPr lang="en-US" sz="1000" dirty="0">
              <a:solidFill>
                <a:schemeClr val="tx1">
                  <a:lumMod val="85000"/>
                  <a:lumOff val="15000"/>
                </a:schemeClr>
              </a:solidFill>
            </a:endParaRPr>
          </a:p>
        </p:txBody>
      </p:sp>
      <p:sp>
        <p:nvSpPr>
          <p:cNvPr id="32" name="Text 23"/>
          <p:cNvSpPr/>
          <p:nvPr/>
        </p:nvSpPr>
        <p:spPr>
          <a:xfrm>
            <a:off x="2880360" y="4078224"/>
            <a:ext cx="1929384" cy="237744"/>
          </a:xfrm>
          <a:prstGeom prst="rect">
            <a:avLst/>
          </a:prstGeom>
          <a:noFill/>
          <a:ln/>
        </p:spPr>
        <p:txBody>
          <a:bodyPr wrap="square" lIns="0" tIns="0" rIns="0" bIns="0" rtlCol="0" anchor="t"/>
          <a:lstStyle/>
          <a:p>
            <a:pPr marL="0" indent="0">
              <a:buNone/>
            </a:pPr>
            <a:r>
              <a:rPr lang="en-US" sz="1100" b="1" dirty="0">
                <a:solidFill>
                  <a:srgbClr val="0B1E46"/>
                </a:solidFill>
                <a:ea typeface="Calibri" pitchFamily="34" charset="-122"/>
                <a:cs typeface="Calibri" pitchFamily="34" charset="-120"/>
              </a:rPr>
              <a:t>+0.6pp</a:t>
            </a:r>
            <a:endParaRPr lang="en-US" sz="1100" dirty="0">
              <a:solidFill>
                <a:srgbClr val="0B1E46"/>
              </a:solidFill>
            </a:endParaRPr>
          </a:p>
        </p:txBody>
      </p:sp>
      <p:graphicFrame>
        <p:nvGraphicFramePr>
          <p:cNvPr id="33" name="Chart 6"/>
          <p:cNvGraphicFramePr/>
          <p:nvPr>
            <p:extLst>
              <p:ext uri="{D42A27DB-BD31-4B8C-83A1-F6EECF244321}">
                <p14:modId xmlns:p14="http://schemas.microsoft.com/office/powerpoint/2010/main" val="3264257322"/>
              </p:ext>
            </p:extLst>
          </p:nvPr>
        </p:nvGraphicFramePr>
        <p:xfrm>
          <a:off x="2843784" y="4334256"/>
          <a:ext cx="2002536" cy="1115568"/>
        </p:xfrm>
        <a:graphic>
          <a:graphicData uri="http://schemas.openxmlformats.org/drawingml/2006/chart">
            <c:chart xmlns:c="http://schemas.openxmlformats.org/drawingml/2006/chart" xmlns:r="http://schemas.openxmlformats.org/officeDocument/2006/relationships" r:id="rId10"/>
          </a:graphicData>
        </a:graphic>
      </p:graphicFrame>
      <p:sp>
        <p:nvSpPr>
          <p:cNvPr id="34" name="Shape 24"/>
          <p:cNvSpPr/>
          <p:nvPr/>
        </p:nvSpPr>
        <p:spPr>
          <a:xfrm>
            <a:off x="5038344" y="3547872"/>
            <a:ext cx="2148840" cy="1993392"/>
          </a:xfrm>
          <a:prstGeom prst="roundRect">
            <a:avLst>
              <a:gd name="adj" fmla="val 2752"/>
            </a:avLst>
          </a:prstGeom>
          <a:solidFill>
            <a:srgbClr val="F4F6FA"/>
          </a:solidFill>
          <a:ln/>
        </p:spPr>
      </p:sp>
      <p:sp>
        <p:nvSpPr>
          <p:cNvPr id="35" name="Text 25"/>
          <p:cNvSpPr/>
          <p:nvPr/>
        </p:nvSpPr>
        <p:spPr>
          <a:xfrm>
            <a:off x="5148072" y="3630168"/>
            <a:ext cx="1929384" cy="457200"/>
          </a:xfrm>
          <a:prstGeom prst="rect">
            <a:avLst/>
          </a:prstGeom>
          <a:noFill/>
          <a:ln/>
        </p:spPr>
        <p:txBody>
          <a:bodyPr wrap="square" lIns="0" tIns="0" rIns="0" bIns="0" rtlCol="0" anchor="t"/>
          <a:lstStyle/>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Premier &amp;</a:t>
            </a:r>
            <a:endParaRPr lang="en-US" sz="1000" dirty="0">
              <a:solidFill>
                <a:schemeClr val="tx1">
                  <a:lumMod val="85000"/>
                  <a:lumOff val="15000"/>
                </a:schemeClr>
              </a:solidFill>
            </a:endParaRPr>
          </a:p>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Cabinet</a:t>
            </a:r>
            <a:endParaRPr lang="en-US" sz="1000" dirty="0">
              <a:solidFill>
                <a:schemeClr val="tx1">
                  <a:lumMod val="85000"/>
                  <a:lumOff val="15000"/>
                </a:schemeClr>
              </a:solidFill>
            </a:endParaRPr>
          </a:p>
        </p:txBody>
      </p:sp>
      <p:sp>
        <p:nvSpPr>
          <p:cNvPr id="36" name="Text 26"/>
          <p:cNvSpPr/>
          <p:nvPr/>
        </p:nvSpPr>
        <p:spPr>
          <a:xfrm>
            <a:off x="5148072" y="4078224"/>
            <a:ext cx="1929384" cy="237744"/>
          </a:xfrm>
          <a:prstGeom prst="rect">
            <a:avLst/>
          </a:prstGeom>
          <a:noFill/>
          <a:ln/>
        </p:spPr>
        <p:txBody>
          <a:bodyPr wrap="square" lIns="0" tIns="0" rIns="0" bIns="0" rtlCol="0" anchor="t"/>
          <a:lstStyle/>
          <a:p>
            <a:r>
              <a:rPr lang="en-US" sz="1100" b="1">
                <a:solidFill>
                  <a:srgbClr val="C00000"/>
                </a:solidFill>
                <a:ea typeface="Cambria" pitchFamily="34" charset="-122"/>
                <a:cs typeface="Cambria" pitchFamily="34" charset="-120"/>
              </a:rPr>
              <a:t>−</a:t>
            </a:r>
            <a:r>
              <a:rPr lang="en-US" sz="1100" b="1">
                <a:solidFill>
                  <a:srgbClr val="E3153D"/>
                </a:solidFill>
                <a:ea typeface="Calibri" pitchFamily="34" charset="-122"/>
                <a:cs typeface="Calibri" pitchFamily="34" charset="-120"/>
              </a:rPr>
              <a:t>0.9pp</a:t>
            </a:r>
            <a:endParaRPr lang="en-US" sz="1100" dirty="0">
              <a:solidFill>
                <a:srgbClr val="E3153D"/>
              </a:solidFill>
            </a:endParaRPr>
          </a:p>
        </p:txBody>
      </p:sp>
      <p:graphicFrame>
        <p:nvGraphicFramePr>
          <p:cNvPr id="37" name="Chart 7"/>
          <p:cNvGraphicFramePr/>
          <p:nvPr>
            <p:extLst>
              <p:ext uri="{D42A27DB-BD31-4B8C-83A1-F6EECF244321}">
                <p14:modId xmlns:p14="http://schemas.microsoft.com/office/powerpoint/2010/main" val="412765851"/>
              </p:ext>
            </p:extLst>
          </p:nvPr>
        </p:nvGraphicFramePr>
        <p:xfrm>
          <a:off x="5111496" y="4334256"/>
          <a:ext cx="2002536" cy="1115568"/>
        </p:xfrm>
        <a:graphic>
          <a:graphicData uri="http://schemas.openxmlformats.org/drawingml/2006/chart">
            <c:chart xmlns:c="http://schemas.openxmlformats.org/drawingml/2006/chart" xmlns:r="http://schemas.openxmlformats.org/officeDocument/2006/relationships" r:id="rId11"/>
          </a:graphicData>
        </a:graphic>
      </p:graphicFrame>
      <p:sp>
        <p:nvSpPr>
          <p:cNvPr id="38" name="Shape 27"/>
          <p:cNvSpPr/>
          <p:nvPr/>
        </p:nvSpPr>
        <p:spPr>
          <a:xfrm>
            <a:off x="7306056" y="3547872"/>
            <a:ext cx="2148840" cy="1993392"/>
          </a:xfrm>
          <a:prstGeom prst="roundRect">
            <a:avLst>
              <a:gd name="adj" fmla="val 2752"/>
            </a:avLst>
          </a:prstGeom>
          <a:solidFill>
            <a:srgbClr val="F4F6FA"/>
          </a:solidFill>
          <a:ln/>
        </p:spPr>
      </p:sp>
      <p:sp>
        <p:nvSpPr>
          <p:cNvPr id="39" name="Text 28"/>
          <p:cNvSpPr/>
          <p:nvPr/>
        </p:nvSpPr>
        <p:spPr>
          <a:xfrm>
            <a:off x="7415784" y="3630168"/>
            <a:ext cx="1929384" cy="457200"/>
          </a:xfrm>
          <a:prstGeom prst="rect">
            <a:avLst/>
          </a:prstGeom>
          <a:noFill/>
          <a:ln/>
        </p:spPr>
        <p:txBody>
          <a:bodyPr wrap="square" lIns="0" tIns="0" rIns="0" bIns="0" rtlCol="0" anchor="t"/>
          <a:lstStyle/>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Industry</a:t>
            </a:r>
            <a:endParaRPr lang="en-US" sz="1000" dirty="0">
              <a:solidFill>
                <a:schemeClr val="tx1">
                  <a:lumMod val="85000"/>
                  <a:lumOff val="15000"/>
                </a:schemeClr>
              </a:solidFill>
            </a:endParaRPr>
          </a:p>
        </p:txBody>
      </p:sp>
      <p:sp>
        <p:nvSpPr>
          <p:cNvPr id="40" name="Text 29"/>
          <p:cNvSpPr/>
          <p:nvPr/>
        </p:nvSpPr>
        <p:spPr>
          <a:xfrm>
            <a:off x="7415784" y="4078224"/>
            <a:ext cx="1929384" cy="237744"/>
          </a:xfrm>
          <a:prstGeom prst="rect">
            <a:avLst/>
          </a:prstGeom>
          <a:noFill/>
          <a:ln/>
        </p:spPr>
        <p:txBody>
          <a:bodyPr wrap="square" lIns="0" tIns="0" rIns="0" bIns="0" rtlCol="0" anchor="t"/>
          <a:lstStyle/>
          <a:p>
            <a:r>
              <a:rPr lang="en-US" sz="1100" b="1">
                <a:solidFill>
                  <a:srgbClr val="C00000"/>
                </a:solidFill>
                <a:ea typeface="Cambria" pitchFamily="34" charset="-122"/>
                <a:cs typeface="Cambria" pitchFamily="34" charset="-120"/>
              </a:rPr>
              <a:t>−</a:t>
            </a:r>
            <a:r>
              <a:rPr lang="en-US" sz="1100" b="1">
                <a:solidFill>
                  <a:srgbClr val="E3153D"/>
                </a:solidFill>
                <a:ea typeface="Calibri" pitchFamily="34" charset="-122"/>
                <a:cs typeface="Calibri" pitchFamily="34" charset="-120"/>
              </a:rPr>
              <a:t>5.5pp</a:t>
            </a:r>
            <a:endParaRPr lang="en-US" sz="1100" dirty="0">
              <a:solidFill>
                <a:srgbClr val="E3153D"/>
              </a:solidFill>
            </a:endParaRPr>
          </a:p>
        </p:txBody>
      </p:sp>
      <p:graphicFrame>
        <p:nvGraphicFramePr>
          <p:cNvPr id="41" name="Chart 8"/>
          <p:cNvGraphicFramePr/>
          <p:nvPr>
            <p:extLst>
              <p:ext uri="{D42A27DB-BD31-4B8C-83A1-F6EECF244321}">
                <p14:modId xmlns:p14="http://schemas.microsoft.com/office/powerpoint/2010/main" val="975939682"/>
              </p:ext>
            </p:extLst>
          </p:nvPr>
        </p:nvGraphicFramePr>
        <p:xfrm>
          <a:off x="7379208" y="4334256"/>
          <a:ext cx="2002536" cy="1115568"/>
        </p:xfrm>
        <a:graphic>
          <a:graphicData uri="http://schemas.openxmlformats.org/drawingml/2006/chart">
            <c:chart xmlns:c="http://schemas.openxmlformats.org/drawingml/2006/chart" xmlns:r="http://schemas.openxmlformats.org/officeDocument/2006/relationships" r:id="rId12"/>
          </a:graphicData>
        </a:graphic>
      </p:graphicFrame>
      <p:sp>
        <p:nvSpPr>
          <p:cNvPr id="42" name="Shape 30"/>
          <p:cNvSpPr/>
          <p:nvPr/>
        </p:nvSpPr>
        <p:spPr>
          <a:xfrm>
            <a:off x="9573768" y="3547872"/>
            <a:ext cx="2148840" cy="1993392"/>
          </a:xfrm>
          <a:prstGeom prst="roundRect">
            <a:avLst>
              <a:gd name="adj" fmla="val 2752"/>
            </a:avLst>
          </a:prstGeom>
          <a:solidFill>
            <a:srgbClr val="F4F6FA"/>
          </a:solidFill>
          <a:ln/>
        </p:spPr>
      </p:sp>
      <p:sp>
        <p:nvSpPr>
          <p:cNvPr id="43" name="Text 31"/>
          <p:cNvSpPr/>
          <p:nvPr/>
        </p:nvSpPr>
        <p:spPr>
          <a:xfrm>
            <a:off x="9683496" y="3630168"/>
            <a:ext cx="1929384" cy="457200"/>
          </a:xfrm>
          <a:prstGeom prst="rect">
            <a:avLst/>
          </a:prstGeom>
          <a:noFill/>
          <a:ln/>
        </p:spPr>
        <p:txBody>
          <a:bodyPr wrap="square" lIns="0" tIns="0" rIns="0" bIns="0" rtlCol="0" anchor="t"/>
          <a:lstStyle/>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Family &amp;</a:t>
            </a:r>
            <a:endParaRPr lang="en-US" sz="1000" dirty="0">
              <a:solidFill>
                <a:schemeClr val="tx1">
                  <a:lumMod val="85000"/>
                  <a:lumOff val="15000"/>
                </a:schemeClr>
              </a:solidFill>
            </a:endParaRPr>
          </a:p>
          <a:p>
            <a:pPr marL="0" indent="0">
              <a:lnSpc>
                <a:spcPct val="100000"/>
              </a:lnSpc>
              <a:buNone/>
            </a:pPr>
            <a:r>
              <a:rPr lang="en-US" sz="1000" b="1" dirty="0">
                <a:solidFill>
                  <a:schemeClr val="tx1">
                    <a:lumMod val="85000"/>
                    <a:lumOff val="15000"/>
                  </a:schemeClr>
                </a:solidFill>
                <a:ea typeface="Calibri" pitchFamily="34" charset="-122"/>
                <a:cs typeface="Calibri" pitchFamily="34" charset="-120"/>
              </a:rPr>
              <a:t>Community Services</a:t>
            </a:r>
            <a:endParaRPr lang="en-US" sz="1000" dirty="0">
              <a:solidFill>
                <a:schemeClr val="tx1">
                  <a:lumMod val="85000"/>
                  <a:lumOff val="15000"/>
                </a:schemeClr>
              </a:solidFill>
            </a:endParaRPr>
          </a:p>
        </p:txBody>
      </p:sp>
      <p:sp>
        <p:nvSpPr>
          <p:cNvPr id="44" name="Text 32"/>
          <p:cNvSpPr/>
          <p:nvPr/>
        </p:nvSpPr>
        <p:spPr>
          <a:xfrm>
            <a:off x="9683496" y="4078224"/>
            <a:ext cx="1929384" cy="237744"/>
          </a:xfrm>
          <a:prstGeom prst="rect">
            <a:avLst/>
          </a:prstGeom>
          <a:noFill/>
          <a:ln/>
        </p:spPr>
        <p:txBody>
          <a:bodyPr wrap="square" lIns="0" tIns="0" rIns="0" bIns="0" rtlCol="0" anchor="t"/>
          <a:lstStyle/>
          <a:p>
            <a:r>
              <a:rPr lang="en-US" sz="1100" b="1">
                <a:solidFill>
                  <a:srgbClr val="C00000"/>
                </a:solidFill>
                <a:ea typeface="Cambria" pitchFamily="34" charset="-122"/>
                <a:cs typeface="Cambria" pitchFamily="34" charset="-120"/>
              </a:rPr>
              <a:t>−</a:t>
            </a:r>
            <a:r>
              <a:rPr lang="en-US" sz="1100" b="1">
                <a:solidFill>
                  <a:srgbClr val="E3153D"/>
                </a:solidFill>
                <a:ea typeface="Calibri" pitchFamily="34" charset="-122"/>
                <a:cs typeface="Calibri" pitchFamily="34" charset="-120"/>
              </a:rPr>
              <a:t>19.1pp</a:t>
            </a:r>
            <a:endParaRPr lang="en-US" sz="1100" dirty="0">
              <a:solidFill>
                <a:srgbClr val="E3153D"/>
              </a:solidFill>
            </a:endParaRPr>
          </a:p>
        </p:txBody>
      </p:sp>
      <p:graphicFrame>
        <p:nvGraphicFramePr>
          <p:cNvPr id="45" name="Chart 9"/>
          <p:cNvGraphicFramePr/>
          <p:nvPr>
            <p:extLst>
              <p:ext uri="{D42A27DB-BD31-4B8C-83A1-F6EECF244321}">
                <p14:modId xmlns:p14="http://schemas.microsoft.com/office/powerpoint/2010/main" val="649871120"/>
              </p:ext>
            </p:extLst>
          </p:nvPr>
        </p:nvGraphicFramePr>
        <p:xfrm>
          <a:off x="9646920" y="4334256"/>
          <a:ext cx="2002536" cy="1115568"/>
        </p:xfrm>
        <a:graphic>
          <a:graphicData uri="http://schemas.openxmlformats.org/drawingml/2006/chart">
            <c:chart xmlns:c="http://schemas.openxmlformats.org/drawingml/2006/chart" xmlns:r="http://schemas.openxmlformats.org/officeDocument/2006/relationships" r:id="rId13"/>
          </a:graphicData>
        </a:graphic>
      </p:graphicFrame>
      <p:sp>
        <p:nvSpPr>
          <p:cNvPr id="46" name="Shape 33"/>
          <p:cNvSpPr/>
          <p:nvPr/>
        </p:nvSpPr>
        <p:spPr>
          <a:xfrm>
            <a:off x="502920" y="5742432"/>
            <a:ext cx="11185855" cy="566928"/>
          </a:xfrm>
          <a:prstGeom prst="roundRect">
            <a:avLst>
              <a:gd name="adj" fmla="val 11290"/>
            </a:avLst>
          </a:prstGeom>
          <a:solidFill>
            <a:srgbClr val="F4F6FA"/>
          </a:solidFill>
          <a:ln/>
        </p:spPr>
      </p:sp>
      <p:sp>
        <p:nvSpPr>
          <p:cNvPr id="47" name="Shape 34"/>
          <p:cNvSpPr/>
          <p:nvPr/>
        </p:nvSpPr>
        <p:spPr>
          <a:xfrm>
            <a:off x="704088" y="5806440"/>
            <a:ext cx="438912" cy="438912"/>
          </a:xfrm>
          <a:prstGeom prst="ellipse">
            <a:avLst/>
          </a:prstGeom>
          <a:solidFill>
            <a:schemeClr val="accent1">
              <a:lumMod val="50000"/>
            </a:schemeClr>
          </a:solidFill>
          <a:ln/>
        </p:spPr>
      </p:sp>
      <p:pic>
        <p:nvPicPr>
          <p:cNvPr id="48" name="Image 1" descr="/home/claude/nsw_deck/icons/alertTriangle.png"/>
          <p:cNvPicPr>
            <a:picLocks noChangeAspect="1"/>
          </p:cNvPicPr>
          <p:nvPr/>
        </p:nvPicPr>
        <p:blipFill>
          <a:blip r:embed="rId14"/>
          <a:stretch>
            <a:fillRect/>
          </a:stretch>
        </p:blipFill>
        <p:spPr>
          <a:xfrm>
            <a:off x="809244" y="5902452"/>
            <a:ext cx="228600" cy="228600"/>
          </a:xfrm>
          <a:prstGeom prst="rect">
            <a:avLst/>
          </a:prstGeom>
        </p:spPr>
      </p:pic>
      <p:sp>
        <p:nvSpPr>
          <p:cNvPr id="49" name="Text 35"/>
          <p:cNvSpPr/>
          <p:nvPr/>
        </p:nvSpPr>
        <p:spPr>
          <a:xfrm>
            <a:off x="1325880" y="5833872"/>
            <a:ext cx="10134295" cy="384048"/>
          </a:xfrm>
          <a:prstGeom prst="rect">
            <a:avLst/>
          </a:prstGeom>
          <a:noFill/>
          <a:ln/>
        </p:spPr>
        <p:txBody>
          <a:bodyPr wrap="square" lIns="0" tIns="0" rIns="0" bIns="0" rtlCol="0" anchor="ctr"/>
          <a:lstStyle/>
          <a:p>
            <a:pPr marL="0" indent="0">
              <a:lnSpc>
                <a:spcPct val="118000"/>
              </a:lnSpc>
              <a:buNone/>
            </a:pPr>
            <a:r>
              <a:rPr lang="en-US" sz="1100">
                <a:solidFill>
                  <a:schemeClr val="tx1">
                    <a:lumMod val="85000"/>
                    <a:lumOff val="15000"/>
                  </a:schemeClr>
                </a:solidFill>
                <a:ea typeface="Calibri" pitchFamily="34" charset="-122"/>
                <a:cs typeface="Calibri" pitchFamily="34" charset="-120"/>
              </a:rPr>
              <a:t>Caution: several clusters, Family &amp; Community Services most sharply, moved unevenly rather than in a straight line. Extending its trend directly would put it below zero within a few years, a modelling artefact rather than a real outcome. Cluster-level projections deserve more caution than the sector-wide figures.</a:t>
            </a:r>
            <a:endParaRPr lang="en-US" sz="1100" dirty="0">
              <a:solidFill>
                <a:schemeClr val="tx1">
                  <a:lumMod val="85000"/>
                  <a:lumOff val="15000"/>
                </a:schemeClr>
              </a:solidFill>
            </a:endParaRPr>
          </a:p>
        </p:txBody>
      </p:sp>
      <p:sp>
        <p:nvSpPr>
          <p:cNvPr id="51" name="Text 37"/>
          <p:cNvSpPr/>
          <p:nvPr/>
        </p:nvSpPr>
        <p:spPr>
          <a:xfrm>
            <a:off x="11247120" y="6528816"/>
            <a:ext cx="411480" cy="256032"/>
          </a:xfrm>
          <a:prstGeom prst="rect">
            <a:avLst/>
          </a:prstGeom>
          <a:noFill/>
          <a:ln/>
        </p:spPr>
        <p:txBody>
          <a:bodyPr wrap="square" lIns="0" tIns="0" rIns="0" bIns="0" rtlCol="0" anchor="ctr"/>
          <a:lstStyle/>
          <a:p>
            <a:pPr marL="0" indent="0" algn="r">
              <a:buNone/>
            </a:pPr>
            <a:r>
              <a:rPr lang="en-US" sz="850" dirty="0">
                <a:solidFill>
                  <a:srgbClr val="667085"/>
                </a:solidFill>
                <a:cs typeface="Calibri" pitchFamily="34" charset="-120"/>
              </a:rPr>
              <a:t>9</a:t>
            </a:r>
            <a:endParaRPr lang="en-US" sz="850" dirty="0"/>
          </a:p>
        </p:txBody>
      </p:sp>
      <p:pic>
        <p:nvPicPr>
          <p:cNvPr id="53" name="Picture 52">
            <a:extLst>
              <a:ext uri="{FF2B5EF4-FFF2-40B4-BE49-F238E27FC236}">
                <a16:creationId xmlns:a16="http://schemas.microsoft.com/office/drawing/2014/main" id="{2A13B9AC-B33B-172F-B620-08AE5034DCDC}"/>
              </a:ext>
            </a:extLst>
          </p:cNvPr>
          <p:cNvPicPr>
            <a:picLocks noChangeAspect="1"/>
          </p:cNvPicPr>
          <p:nvPr/>
        </p:nvPicPr>
        <p:blipFill>
          <a:blip r:embed="rId15"/>
          <a:stretch>
            <a:fillRect/>
          </a:stretch>
        </p:blipFill>
        <p:spPr>
          <a:xfrm>
            <a:off x="10060685" y="1"/>
            <a:ext cx="2144486" cy="685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65760"/>
            <a:ext cx="9601200" cy="274320"/>
          </a:xfrm>
          <a:prstGeom prst="rect">
            <a:avLst/>
          </a:prstGeom>
          <a:noFill/>
          <a:ln/>
        </p:spPr>
        <p:txBody>
          <a:bodyPr wrap="square" lIns="0" tIns="0" rIns="0" bIns="0" rtlCol="0" anchor="ctr"/>
          <a:lstStyle/>
          <a:p>
            <a:pPr marL="0" indent="0">
              <a:buNone/>
            </a:pPr>
            <a:r>
              <a:rPr lang="en-US" sz="1200" b="1" kern="0" spc="200" dirty="0">
                <a:solidFill>
                  <a:srgbClr val="E3153D"/>
                </a:solidFill>
                <a:ea typeface="Calibri" pitchFamily="34" charset="-122"/>
                <a:cs typeface="Calibri" pitchFamily="34" charset="-120"/>
              </a:rPr>
              <a:t>FOR DISCUSSION</a:t>
            </a:r>
            <a:endParaRPr lang="en-US" sz="1200" dirty="0">
              <a:solidFill>
                <a:srgbClr val="E3153D"/>
              </a:solidFill>
            </a:endParaRPr>
          </a:p>
        </p:txBody>
      </p:sp>
      <p:sp>
        <p:nvSpPr>
          <p:cNvPr id="3" name="Text 1"/>
          <p:cNvSpPr/>
          <p:nvPr/>
        </p:nvSpPr>
        <p:spPr>
          <a:xfrm>
            <a:off x="502920" y="621792"/>
            <a:ext cx="9966960" cy="685800"/>
          </a:xfrm>
          <a:prstGeom prst="rect">
            <a:avLst/>
          </a:prstGeom>
          <a:noFill/>
          <a:ln/>
        </p:spPr>
        <p:txBody>
          <a:bodyPr wrap="square" lIns="0" tIns="0" rIns="0" bIns="0" rtlCol="0" anchor="t"/>
          <a:lstStyle/>
          <a:p>
            <a:pPr marL="0" indent="0">
              <a:buNone/>
            </a:pPr>
            <a:r>
              <a:rPr lang="en-US" sz="2400" b="1" dirty="0">
                <a:solidFill>
                  <a:srgbClr val="143980"/>
                </a:solidFill>
                <a:ea typeface="Cambria" pitchFamily="34" charset="-122"/>
                <a:cs typeface="Cambria" pitchFamily="34" charset="-120"/>
              </a:rPr>
              <a:t>Discussion Points for the Committee</a:t>
            </a:r>
            <a:endParaRPr lang="en-US" sz="2400" dirty="0">
              <a:solidFill>
                <a:srgbClr val="143980"/>
              </a:solidFill>
            </a:endParaRPr>
          </a:p>
        </p:txBody>
      </p:sp>
      <p:pic>
        <p:nvPicPr>
          <p:cNvPr id="5" name="Image 0" descr="/home/claude/nsw_deck/icons/messageCircle.png"/>
          <p:cNvPicPr>
            <a:picLocks noChangeAspect="1"/>
          </p:cNvPicPr>
          <p:nvPr/>
        </p:nvPicPr>
        <p:blipFill>
          <a:blip r:embed="rId3"/>
          <a:stretch>
            <a:fillRect/>
          </a:stretch>
        </p:blipFill>
        <p:spPr>
          <a:xfrm>
            <a:off x="11013948" y="580644"/>
            <a:ext cx="402336" cy="402336"/>
          </a:xfrm>
          <a:prstGeom prst="rect">
            <a:avLst/>
          </a:prstGeom>
        </p:spPr>
      </p:pic>
      <p:sp>
        <p:nvSpPr>
          <p:cNvPr id="6" name="Shape 3"/>
          <p:cNvSpPr/>
          <p:nvPr/>
        </p:nvSpPr>
        <p:spPr>
          <a:xfrm>
            <a:off x="502920" y="1481328"/>
            <a:ext cx="5458968" cy="2148840"/>
          </a:xfrm>
          <a:prstGeom prst="roundRect">
            <a:avLst>
              <a:gd name="adj" fmla="val 3830"/>
            </a:avLst>
          </a:prstGeom>
          <a:solidFill>
            <a:srgbClr val="F4F6FA"/>
          </a:solidFill>
          <a:ln/>
          <a:effectLst>
            <a:outerShdw blurRad="76200" dist="25400" dir="5400000" algn="bl" rotWithShape="0">
              <a:srgbClr val="B7C0D4">
                <a:alpha val="40000"/>
              </a:srgbClr>
            </a:outerShdw>
          </a:effectLst>
        </p:spPr>
      </p:sp>
      <p:sp>
        <p:nvSpPr>
          <p:cNvPr id="7" name="Shape 4"/>
          <p:cNvSpPr/>
          <p:nvPr/>
        </p:nvSpPr>
        <p:spPr>
          <a:xfrm>
            <a:off x="758952" y="1737360"/>
            <a:ext cx="512064" cy="512064"/>
          </a:xfrm>
          <a:prstGeom prst="ellipse">
            <a:avLst/>
          </a:prstGeom>
          <a:solidFill>
            <a:srgbClr val="0B1E46"/>
          </a:solidFill>
          <a:ln/>
        </p:spPr>
      </p:sp>
      <p:pic>
        <p:nvPicPr>
          <p:cNvPr id="8" name="Image 1" descr="/home/claude/nsw_deck/icons/bookOpen.png"/>
          <p:cNvPicPr>
            <a:picLocks noChangeAspect="1"/>
          </p:cNvPicPr>
          <p:nvPr/>
        </p:nvPicPr>
        <p:blipFill>
          <a:blip r:embed="rId4"/>
          <a:stretch>
            <a:fillRect/>
          </a:stretch>
        </p:blipFill>
        <p:spPr>
          <a:xfrm>
            <a:off x="886968" y="1865376"/>
            <a:ext cx="256032" cy="256032"/>
          </a:xfrm>
          <a:prstGeom prst="rect">
            <a:avLst/>
          </a:prstGeom>
        </p:spPr>
      </p:pic>
      <p:sp>
        <p:nvSpPr>
          <p:cNvPr id="9" name="Text 5"/>
          <p:cNvSpPr/>
          <p:nvPr/>
        </p:nvSpPr>
        <p:spPr>
          <a:xfrm>
            <a:off x="1463040" y="1700784"/>
            <a:ext cx="4270248" cy="594360"/>
          </a:xfrm>
          <a:prstGeom prst="rect">
            <a:avLst/>
          </a:prstGeom>
          <a:noFill/>
          <a:ln/>
        </p:spPr>
        <p:txBody>
          <a:bodyPr wrap="square" lIns="0" tIns="0" rIns="0" bIns="0" rtlCol="0" anchor="ctr"/>
          <a:lstStyle/>
          <a:p>
            <a:pPr marL="0" indent="0">
              <a:lnSpc>
                <a:spcPct val="105000"/>
              </a:lnSpc>
              <a:buNone/>
            </a:pPr>
            <a:r>
              <a:rPr lang="en-US" sz="1400" b="1" dirty="0">
                <a:solidFill>
                  <a:srgbClr val="0B1E46"/>
                </a:solidFill>
                <a:ea typeface="Cambria" pitchFamily="34" charset="-122"/>
                <a:cs typeface="Cambria" pitchFamily="34" charset="-120"/>
              </a:rPr>
              <a:t>Education’s outsized role</a:t>
            </a:r>
            <a:endParaRPr lang="en-US" sz="1400" dirty="0">
              <a:solidFill>
                <a:srgbClr val="0B1E46"/>
              </a:solidFill>
            </a:endParaRPr>
          </a:p>
        </p:txBody>
      </p:sp>
      <p:sp>
        <p:nvSpPr>
          <p:cNvPr id="10" name="Text 6"/>
          <p:cNvSpPr/>
          <p:nvPr/>
        </p:nvSpPr>
        <p:spPr>
          <a:xfrm>
            <a:off x="758952" y="2395728"/>
            <a:ext cx="4946904" cy="1051560"/>
          </a:xfrm>
          <a:prstGeom prst="rect">
            <a:avLst/>
          </a:prstGeom>
          <a:noFill/>
          <a:ln/>
        </p:spPr>
        <p:txBody>
          <a:bodyPr wrap="square" lIns="0" tIns="0" rIns="0" bIns="0" rtlCol="0" anchor="t"/>
          <a:lstStyle/>
          <a:p>
            <a:pPr marL="0" indent="0">
              <a:lnSpc>
                <a:spcPct val="122000"/>
              </a:lnSpc>
              <a:buNone/>
            </a:pPr>
            <a:r>
              <a:rPr lang="en-US" sz="1100" dirty="0">
                <a:solidFill>
                  <a:schemeClr val="tx1">
                    <a:lumMod val="85000"/>
                    <a:lumOff val="15000"/>
                  </a:schemeClr>
                </a:solidFill>
                <a:ea typeface="Calibri" pitchFamily="34" charset="-122"/>
                <a:cs typeface="Calibri" pitchFamily="34" charset="-120"/>
              </a:rPr>
              <a:t>Education is the only cluster above 40% part-time and the single largest contributor to the sector-wide increase. Does this reflect the availability of part-time roles, workforce demand, or both?</a:t>
            </a:r>
            <a:endParaRPr lang="en-US" sz="1100" dirty="0">
              <a:solidFill>
                <a:schemeClr val="tx1">
                  <a:lumMod val="85000"/>
                  <a:lumOff val="15000"/>
                </a:schemeClr>
              </a:solidFill>
            </a:endParaRPr>
          </a:p>
        </p:txBody>
      </p:sp>
      <p:sp>
        <p:nvSpPr>
          <p:cNvPr id="11" name="Shape 7"/>
          <p:cNvSpPr/>
          <p:nvPr/>
        </p:nvSpPr>
        <p:spPr>
          <a:xfrm>
            <a:off x="6236208" y="1481328"/>
            <a:ext cx="5458968" cy="2148840"/>
          </a:xfrm>
          <a:prstGeom prst="roundRect">
            <a:avLst>
              <a:gd name="adj" fmla="val 3830"/>
            </a:avLst>
          </a:prstGeom>
          <a:solidFill>
            <a:srgbClr val="F4F6FA"/>
          </a:solidFill>
          <a:ln/>
          <a:effectLst>
            <a:outerShdw blurRad="76200" dist="25400" dir="5400000" algn="bl" rotWithShape="0">
              <a:srgbClr val="B7C0D4">
                <a:alpha val="40000"/>
              </a:srgbClr>
            </a:outerShdw>
          </a:effectLst>
        </p:spPr>
      </p:sp>
      <p:sp>
        <p:nvSpPr>
          <p:cNvPr id="12" name="Shape 8"/>
          <p:cNvSpPr/>
          <p:nvPr/>
        </p:nvSpPr>
        <p:spPr>
          <a:xfrm>
            <a:off x="6492240" y="1737360"/>
            <a:ext cx="512064" cy="512064"/>
          </a:xfrm>
          <a:prstGeom prst="ellipse">
            <a:avLst/>
          </a:prstGeom>
          <a:solidFill>
            <a:srgbClr val="0B1E46"/>
          </a:solidFill>
          <a:ln/>
        </p:spPr>
        <p:txBody>
          <a:bodyPr/>
          <a:lstStyle/>
          <a:p>
            <a:endParaRPr lang="en-US"/>
          </a:p>
        </p:txBody>
      </p:sp>
      <p:pic>
        <p:nvPicPr>
          <p:cNvPr id="13" name="Image 2"/>
          <p:cNvPicPr>
            <a:picLocks noChangeAspect="1"/>
          </p:cNvPicPr>
          <p:nvPr/>
        </p:nvPicPr>
        <p:blipFill>
          <a:blip r:embed="rId5"/>
          <a:srcRect/>
          <a:stretch/>
        </p:blipFill>
        <p:spPr>
          <a:xfrm>
            <a:off x="6620256" y="1865376"/>
            <a:ext cx="256032" cy="256032"/>
          </a:xfrm>
          <a:prstGeom prst="rect">
            <a:avLst/>
          </a:prstGeom>
        </p:spPr>
      </p:pic>
      <p:sp>
        <p:nvSpPr>
          <p:cNvPr id="14" name="Text 9"/>
          <p:cNvSpPr/>
          <p:nvPr/>
        </p:nvSpPr>
        <p:spPr>
          <a:xfrm>
            <a:off x="7196328" y="1700784"/>
            <a:ext cx="4270248" cy="594360"/>
          </a:xfrm>
          <a:prstGeom prst="rect">
            <a:avLst/>
          </a:prstGeom>
          <a:noFill/>
          <a:ln/>
        </p:spPr>
        <p:txBody>
          <a:bodyPr wrap="square" lIns="0" tIns="0" rIns="0" bIns="0" rtlCol="0" anchor="ctr"/>
          <a:lstStyle/>
          <a:p>
            <a:pPr marL="0" indent="0">
              <a:lnSpc>
                <a:spcPct val="105000"/>
              </a:lnSpc>
              <a:buNone/>
            </a:pPr>
            <a:r>
              <a:rPr lang="en-US" sz="1400" b="1" dirty="0">
                <a:solidFill>
                  <a:srgbClr val="0B1E46"/>
                </a:solidFill>
                <a:ea typeface="Cambria" pitchFamily="34" charset="-122"/>
                <a:cs typeface="Cambria" pitchFamily="34" charset="-120"/>
              </a:rPr>
              <a:t>Rising male part-time uptake</a:t>
            </a:r>
            <a:endParaRPr lang="en-US" sz="1400" dirty="0">
              <a:solidFill>
                <a:srgbClr val="0B1E46"/>
              </a:solidFill>
            </a:endParaRPr>
          </a:p>
        </p:txBody>
      </p:sp>
      <p:sp>
        <p:nvSpPr>
          <p:cNvPr id="15" name="Text 10"/>
          <p:cNvSpPr/>
          <p:nvPr/>
        </p:nvSpPr>
        <p:spPr>
          <a:xfrm>
            <a:off x="6492240" y="2395728"/>
            <a:ext cx="4946904" cy="1051560"/>
          </a:xfrm>
          <a:prstGeom prst="rect">
            <a:avLst/>
          </a:prstGeom>
          <a:noFill/>
          <a:ln/>
        </p:spPr>
        <p:txBody>
          <a:bodyPr wrap="square" lIns="0" tIns="0" rIns="0" bIns="0" rtlCol="0" anchor="t"/>
          <a:lstStyle/>
          <a:p>
            <a:pPr marL="0" indent="0">
              <a:lnSpc>
                <a:spcPct val="122000"/>
              </a:lnSpc>
              <a:buNone/>
            </a:pPr>
            <a:r>
              <a:rPr lang="en-US" sz="1100" dirty="0">
                <a:solidFill>
                  <a:schemeClr val="tx1">
                    <a:lumMod val="85000"/>
                    <a:lumOff val="15000"/>
                  </a:schemeClr>
                </a:solidFill>
                <a:ea typeface="Calibri" pitchFamily="34" charset="-122"/>
                <a:cs typeface="Calibri" pitchFamily="34" charset="-120"/>
              </a:rPr>
              <a:t>Male part-time representation grew from 10.2% to 16.5% in four years, even as full-time male headcount fell. What is driving this shift?</a:t>
            </a:r>
            <a:endParaRPr lang="en-US" sz="1100" dirty="0">
              <a:solidFill>
                <a:schemeClr val="tx1">
                  <a:lumMod val="85000"/>
                  <a:lumOff val="15000"/>
                </a:schemeClr>
              </a:solidFill>
            </a:endParaRPr>
          </a:p>
        </p:txBody>
      </p:sp>
      <p:sp>
        <p:nvSpPr>
          <p:cNvPr id="16" name="Shape 11"/>
          <p:cNvSpPr/>
          <p:nvPr/>
        </p:nvSpPr>
        <p:spPr>
          <a:xfrm>
            <a:off x="502920" y="3886200"/>
            <a:ext cx="5458968" cy="2148840"/>
          </a:xfrm>
          <a:prstGeom prst="roundRect">
            <a:avLst>
              <a:gd name="adj" fmla="val 3830"/>
            </a:avLst>
          </a:prstGeom>
          <a:solidFill>
            <a:srgbClr val="F4F6FA"/>
          </a:solidFill>
          <a:ln/>
          <a:effectLst>
            <a:outerShdw blurRad="76200" dist="25400" dir="5400000" algn="bl" rotWithShape="0">
              <a:srgbClr val="B7C0D4">
                <a:alpha val="40000"/>
              </a:srgbClr>
            </a:outerShdw>
          </a:effectLst>
        </p:spPr>
      </p:sp>
      <p:sp>
        <p:nvSpPr>
          <p:cNvPr id="17" name="Shape 12"/>
          <p:cNvSpPr/>
          <p:nvPr/>
        </p:nvSpPr>
        <p:spPr>
          <a:xfrm>
            <a:off x="758952" y="4142232"/>
            <a:ext cx="512064" cy="512064"/>
          </a:xfrm>
          <a:prstGeom prst="ellipse">
            <a:avLst/>
          </a:prstGeom>
          <a:solidFill>
            <a:srgbClr val="0B1E46"/>
          </a:solidFill>
          <a:ln/>
        </p:spPr>
      </p:sp>
      <p:pic>
        <p:nvPicPr>
          <p:cNvPr id="18" name="Image 3" descr="/home/claude/nsw_deck/icons/barChart.png"/>
          <p:cNvPicPr>
            <a:picLocks noChangeAspect="1"/>
          </p:cNvPicPr>
          <p:nvPr/>
        </p:nvPicPr>
        <p:blipFill>
          <a:blip r:embed="rId6"/>
          <a:stretch>
            <a:fillRect/>
          </a:stretch>
        </p:blipFill>
        <p:spPr>
          <a:xfrm>
            <a:off x="886968" y="4270248"/>
            <a:ext cx="256032" cy="256032"/>
          </a:xfrm>
          <a:prstGeom prst="rect">
            <a:avLst/>
          </a:prstGeom>
        </p:spPr>
      </p:pic>
      <p:sp>
        <p:nvSpPr>
          <p:cNvPr id="19" name="Text 13"/>
          <p:cNvSpPr/>
          <p:nvPr/>
        </p:nvSpPr>
        <p:spPr>
          <a:xfrm>
            <a:off x="1463040" y="4105656"/>
            <a:ext cx="4270248" cy="594360"/>
          </a:xfrm>
          <a:prstGeom prst="rect">
            <a:avLst/>
          </a:prstGeom>
          <a:noFill/>
          <a:ln/>
        </p:spPr>
        <p:txBody>
          <a:bodyPr wrap="square" lIns="0" tIns="0" rIns="0" bIns="0" rtlCol="0" anchor="ctr"/>
          <a:lstStyle/>
          <a:p>
            <a:pPr marL="0" indent="0">
              <a:lnSpc>
                <a:spcPct val="105000"/>
              </a:lnSpc>
              <a:buNone/>
            </a:pPr>
            <a:r>
              <a:rPr lang="en-US" sz="1400" b="1" dirty="0">
                <a:solidFill>
                  <a:srgbClr val="0B1E46"/>
                </a:solidFill>
                <a:ea typeface="Cambria" pitchFamily="34" charset="-122"/>
                <a:cs typeface="Cambria" pitchFamily="34" charset="-120"/>
              </a:rPr>
              <a:t>Uneven progress across clusters</a:t>
            </a:r>
            <a:endParaRPr lang="en-US" sz="1400" dirty="0">
              <a:solidFill>
                <a:srgbClr val="0B1E46"/>
              </a:solidFill>
            </a:endParaRPr>
          </a:p>
        </p:txBody>
      </p:sp>
      <p:sp>
        <p:nvSpPr>
          <p:cNvPr id="20" name="Text 14"/>
          <p:cNvSpPr/>
          <p:nvPr/>
        </p:nvSpPr>
        <p:spPr>
          <a:xfrm>
            <a:off x="758952" y="4800600"/>
            <a:ext cx="4946904" cy="1051560"/>
          </a:xfrm>
          <a:prstGeom prst="rect">
            <a:avLst/>
          </a:prstGeom>
          <a:noFill/>
          <a:ln/>
        </p:spPr>
        <p:txBody>
          <a:bodyPr wrap="square" lIns="0" tIns="0" rIns="0" bIns="0" rtlCol="0" anchor="t"/>
          <a:lstStyle/>
          <a:p>
            <a:pPr marL="0" indent="0">
              <a:lnSpc>
                <a:spcPct val="122000"/>
              </a:lnSpc>
              <a:buNone/>
            </a:pPr>
            <a:r>
              <a:rPr lang="en-US" sz="1100" dirty="0">
                <a:solidFill>
                  <a:schemeClr val="tx1">
                    <a:lumMod val="85000"/>
                    <a:lumOff val="15000"/>
                  </a:schemeClr>
                </a:solidFill>
                <a:ea typeface="Calibri" pitchFamily="34" charset="-122"/>
                <a:cs typeface="Calibri" pitchFamily="34" charset="-120"/>
              </a:rPr>
              <a:t>The gender gap in part-time rates ranges from 5 points in Transport to nearly 20 in Planning &amp; Environment. Should clusters furthest from equal representation be prioritised?</a:t>
            </a:r>
            <a:endParaRPr lang="en-US" sz="1100" dirty="0">
              <a:solidFill>
                <a:schemeClr val="tx1">
                  <a:lumMod val="85000"/>
                  <a:lumOff val="15000"/>
                </a:schemeClr>
              </a:solidFill>
            </a:endParaRPr>
          </a:p>
        </p:txBody>
      </p:sp>
      <p:sp>
        <p:nvSpPr>
          <p:cNvPr id="21" name="Shape 15"/>
          <p:cNvSpPr/>
          <p:nvPr/>
        </p:nvSpPr>
        <p:spPr>
          <a:xfrm>
            <a:off x="6236208" y="3886200"/>
            <a:ext cx="5458968" cy="2148840"/>
          </a:xfrm>
          <a:prstGeom prst="roundRect">
            <a:avLst>
              <a:gd name="adj" fmla="val 3830"/>
            </a:avLst>
          </a:prstGeom>
          <a:solidFill>
            <a:srgbClr val="F4F6FA"/>
          </a:solidFill>
          <a:ln/>
          <a:effectLst>
            <a:outerShdw blurRad="76200" dist="25400" dir="5400000" algn="bl" rotWithShape="0">
              <a:srgbClr val="B7C0D4">
                <a:alpha val="40000"/>
              </a:srgbClr>
            </a:outerShdw>
          </a:effectLst>
        </p:spPr>
      </p:sp>
      <p:sp>
        <p:nvSpPr>
          <p:cNvPr id="22" name="Shape 16"/>
          <p:cNvSpPr/>
          <p:nvPr/>
        </p:nvSpPr>
        <p:spPr>
          <a:xfrm>
            <a:off x="6492240" y="4142232"/>
            <a:ext cx="512064" cy="512064"/>
          </a:xfrm>
          <a:prstGeom prst="ellipse">
            <a:avLst/>
          </a:prstGeom>
          <a:solidFill>
            <a:srgbClr val="0B1E46"/>
          </a:solidFill>
          <a:ln/>
        </p:spPr>
      </p:sp>
      <p:pic>
        <p:nvPicPr>
          <p:cNvPr id="23" name="Image 4" descr="/home/claude/nsw_deck/icons/target.png"/>
          <p:cNvPicPr>
            <a:picLocks noChangeAspect="1"/>
          </p:cNvPicPr>
          <p:nvPr/>
        </p:nvPicPr>
        <p:blipFill>
          <a:blip r:embed="rId7"/>
          <a:stretch>
            <a:fillRect/>
          </a:stretch>
        </p:blipFill>
        <p:spPr>
          <a:xfrm>
            <a:off x="6620256" y="4270248"/>
            <a:ext cx="256032" cy="256032"/>
          </a:xfrm>
          <a:prstGeom prst="rect">
            <a:avLst/>
          </a:prstGeom>
        </p:spPr>
      </p:pic>
      <p:sp>
        <p:nvSpPr>
          <p:cNvPr id="24" name="Text 17"/>
          <p:cNvSpPr/>
          <p:nvPr/>
        </p:nvSpPr>
        <p:spPr>
          <a:xfrm>
            <a:off x="7196328" y="4105656"/>
            <a:ext cx="4270248" cy="594360"/>
          </a:xfrm>
          <a:prstGeom prst="rect">
            <a:avLst/>
          </a:prstGeom>
          <a:noFill/>
          <a:ln/>
        </p:spPr>
        <p:txBody>
          <a:bodyPr wrap="square" lIns="0" tIns="0" rIns="0" bIns="0" rtlCol="0" anchor="ctr"/>
          <a:lstStyle/>
          <a:p>
            <a:pPr marL="0" indent="0">
              <a:lnSpc>
                <a:spcPct val="105000"/>
              </a:lnSpc>
              <a:buNone/>
            </a:pPr>
            <a:r>
              <a:rPr lang="en-US" sz="1400" b="1" dirty="0">
                <a:solidFill>
                  <a:srgbClr val="0B1E46"/>
                </a:solidFill>
                <a:ea typeface="Cambria" pitchFamily="34" charset="-122"/>
                <a:cs typeface="Cambria" pitchFamily="34" charset="-120"/>
              </a:rPr>
              <a:t>The road to 2025</a:t>
            </a:r>
            <a:endParaRPr lang="en-US" sz="1400" dirty="0">
              <a:solidFill>
                <a:srgbClr val="0B1E46"/>
              </a:solidFill>
            </a:endParaRPr>
          </a:p>
        </p:txBody>
      </p:sp>
      <p:sp>
        <p:nvSpPr>
          <p:cNvPr id="25" name="Text 18"/>
          <p:cNvSpPr/>
          <p:nvPr/>
        </p:nvSpPr>
        <p:spPr>
          <a:xfrm>
            <a:off x="6492240" y="4800600"/>
            <a:ext cx="4946904" cy="1051560"/>
          </a:xfrm>
          <a:prstGeom prst="rect">
            <a:avLst/>
          </a:prstGeom>
          <a:noFill/>
          <a:ln/>
        </p:spPr>
        <p:txBody>
          <a:bodyPr wrap="square" lIns="0" tIns="0" rIns="0" bIns="0" rtlCol="0" anchor="t"/>
          <a:lstStyle/>
          <a:p>
            <a:pPr marL="0" indent="0">
              <a:lnSpc>
                <a:spcPct val="122000"/>
              </a:lnSpc>
              <a:buNone/>
            </a:pPr>
            <a:r>
              <a:rPr lang="en-US" sz="1100" dirty="0">
                <a:solidFill>
                  <a:schemeClr val="tx1">
                    <a:lumMod val="85000"/>
                    <a:lumOff val="15000"/>
                  </a:schemeClr>
                </a:solidFill>
                <a:ea typeface="Calibri" pitchFamily="34" charset="-122"/>
                <a:cs typeface="Calibri" pitchFamily="34" charset="-120"/>
              </a:rPr>
              <a:t>Even on current trends, a real gender gap in part-time rates is projected to remain in 2025. What further steps, if any, should the Committee consider?</a:t>
            </a:r>
            <a:endParaRPr lang="en-US" sz="1100" dirty="0">
              <a:solidFill>
                <a:schemeClr val="tx1">
                  <a:lumMod val="85000"/>
                  <a:lumOff val="15000"/>
                </a:schemeClr>
              </a:solidFill>
            </a:endParaRPr>
          </a:p>
        </p:txBody>
      </p:sp>
      <p:sp>
        <p:nvSpPr>
          <p:cNvPr id="27" name="Text 20"/>
          <p:cNvSpPr/>
          <p:nvPr/>
        </p:nvSpPr>
        <p:spPr>
          <a:xfrm>
            <a:off x="11247120" y="6528816"/>
            <a:ext cx="411480" cy="256032"/>
          </a:xfrm>
          <a:prstGeom prst="rect">
            <a:avLst/>
          </a:prstGeom>
          <a:noFill/>
          <a:ln/>
        </p:spPr>
        <p:txBody>
          <a:bodyPr wrap="square" lIns="0" tIns="0" rIns="0" bIns="0" rtlCol="0" anchor="ctr"/>
          <a:lstStyle/>
          <a:p>
            <a:pPr marL="0" indent="0" algn="r">
              <a:buNone/>
            </a:pPr>
            <a:r>
              <a:rPr lang="en-US" sz="850" dirty="0">
                <a:solidFill>
                  <a:srgbClr val="667085"/>
                </a:solidFill>
                <a:ea typeface="Calibri" pitchFamily="34" charset="-122"/>
                <a:cs typeface="Calibri" pitchFamily="34" charset="-120"/>
              </a:rPr>
              <a:t>10</a:t>
            </a:r>
            <a:endParaRPr lang="en-US" sz="850" dirty="0"/>
          </a:p>
        </p:txBody>
      </p:sp>
      <p:pic>
        <p:nvPicPr>
          <p:cNvPr id="29" name="Picture 28">
            <a:extLst>
              <a:ext uri="{FF2B5EF4-FFF2-40B4-BE49-F238E27FC236}">
                <a16:creationId xmlns:a16="http://schemas.microsoft.com/office/drawing/2014/main" id="{59027B1C-E303-3FBF-8CEF-701A24DEEF93}"/>
              </a:ext>
            </a:extLst>
          </p:cNvPr>
          <p:cNvPicPr>
            <a:picLocks noChangeAspect="1"/>
          </p:cNvPicPr>
          <p:nvPr/>
        </p:nvPicPr>
        <p:blipFill>
          <a:blip r:embed="rId8"/>
          <a:stretch>
            <a:fillRect/>
          </a:stretch>
        </p:blipFill>
        <p:spPr>
          <a:xfrm>
            <a:off x="10060685" y="1"/>
            <a:ext cx="2144486" cy="685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1718</TotalTime>
  <Words>1193</Words>
  <Application>Microsoft Macintosh PowerPoint</Application>
  <PresentationFormat>Widescreen</PresentationFormat>
  <Paragraphs>136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Amit Sharma</cp:lastModifiedBy>
  <cp:revision>20</cp:revision>
  <dcterms:created xsi:type="dcterms:W3CDTF">2026-08-24T21:21:51Z</dcterms:created>
  <dcterms:modified xsi:type="dcterms:W3CDTF">2026-08-29T18:10:22Z</dcterms:modified>
</cp:coreProperties>
</file>